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notesSlides/notesSlide4.xml" ContentType="application/vnd.openxmlformats-officedocument.presentationml.notesSlide+xml"/>
  <Override PartName="/ppt/charts/chart2.xml" ContentType="application/vnd.openxmlformats-officedocument.drawingml.chart+xml"/>
  <Override PartName="/ppt/notesSlides/notesSlide5.xml" ContentType="application/vnd.openxmlformats-officedocument.presentationml.notesSlide+xml"/>
  <Override PartName="/ppt/charts/chart3.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4A93BF5-4400-F026-1D98-34059845CF1C}" v="31" dt="2026-07-28T08:56:08.358"/>
    <p1510:client id="{F43F88B3-63FA-A6A7-86DF-849D2201D51A}" v="26" dt="2026-07-27T22:48:19.88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Cancellation Rate</c:v>
                </c:pt>
              </c:strCache>
            </c:strRef>
          </c:tx>
          <c:spPr>
            <a:solidFill>
              <a:srgbClr val="1C7293"/>
            </a:solidFill>
            <a:effectLst/>
          </c:spPr>
          <c:invertIfNegative val="0"/>
          <c:dPt>
            <c:idx val="0"/>
            <c:invertIfNegative val="0"/>
            <c:bubble3D val="0"/>
            <c:extLst>
              <c:ext xmlns:c16="http://schemas.microsoft.com/office/drawing/2014/chart" uri="{C3380CC4-5D6E-409C-BE32-E72D297353CC}">
                <c16:uniqueId val="{00000001-751D-4EF0-B022-4329C2331EF6}"/>
              </c:ext>
            </c:extLst>
          </c:dPt>
          <c:dPt>
            <c:idx val="1"/>
            <c:invertIfNegative val="0"/>
            <c:bubble3D val="0"/>
            <c:extLst>
              <c:ext xmlns:c16="http://schemas.microsoft.com/office/drawing/2014/chart" uri="{C3380CC4-5D6E-409C-BE32-E72D297353CC}">
                <c16:uniqueId val="{00000003-751D-4EF0-B022-4329C2331EF6}"/>
              </c:ext>
            </c:extLst>
          </c:dPt>
          <c:dPt>
            <c:idx val="2"/>
            <c:invertIfNegative val="0"/>
            <c:bubble3D val="0"/>
            <c:extLst>
              <c:ext xmlns:c16="http://schemas.microsoft.com/office/drawing/2014/chart" uri="{C3380CC4-5D6E-409C-BE32-E72D297353CC}">
                <c16:uniqueId val="{00000005-751D-4EF0-B022-4329C2331EF6}"/>
              </c:ext>
            </c:extLst>
          </c:dPt>
          <c:dPt>
            <c:idx val="3"/>
            <c:invertIfNegative val="0"/>
            <c:bubble3D val="0"/>
            <c:spPr>
              <a:solidFill>
                <a:srgbClr val="E24B4A"/>
              </a:solidFill>
              <a:effectLst/>
            </c:spPr>
            <c:extLst>
              <c:ext xmlns:c16="http://schemas.microsoft.com/office/drawing/2014/chart" uri="{C3380CC4-5D6E-409C-BE32-E72D297353CC}">
                <c16:uniqueId val="{00000007-751D-4EF0-B022-4329C2331EF6}"/>
              </c:ext>
            </c:extLst>
          </c:dPt>
          <c:dLbls>
            <c:numFmt formatCode="0.0&quot;%&quot;" sourceLinked="0"/>
            <c:spPr>
              <a:noFill/>
              <a:ln>
                <a:noFill/>
              </a:ln>
              <a:effectLst/>
            </c:spPr>
            <c:txPr>
              <a:bodyPr/>
              <a:lstStyle/>
              <a:p>
                <a:pPr>
                  <a:defRPr sz="1200" b="0" i="0" u="none" strike="noStrike">
                    <a:solidFill>
                      <a:srgbClr val="1A1A2E"/>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Corporate</c:v>
                </c:pt>
                <c:pt idx="1">
                  <c:v>Aviation</c:v>
                </c:pt>
                <c:pt idx="2">
                  <c:v>Offline</c:v>
                </c:pt>
                <c:pt idx="3">
                  <c:v>Online</c:v>
                </c:pt>
              </c:strCache>
            </c:strRef>
          </c:cat>
          <c:val>
            <c:numRef>
              <c:f>Sheet1!$B$2:$B$5</c:f>
              <c:numCache>
                <c:formatCode>General</c:formatCode>
                <c:ptCount val="4"/>
                <c:pt idx="0">
                  <c:v>10.9</c:v>
                </c:pt>
                <c:pt idx="1">
                  <c:v>29.6</c:v>
                </c:pt>
                <c:pt idx="2">
                  <c:v>29.9</c:v>
                </c:pt>
                <c:pt idx="3">
                  <c:v>36.5</c:v>
                </c:pt>
              </c:numCache>
            </c:numRef>
          </c:val>
          <c:extLst>
            <c:ext xmlns:c16="http://schemas.microsoft.com/office/drawing/2014/chart" uri="{C3380CC4-5D6E-409C-BE32-E72D297353CC}">
              <c16:uniqueId val="{00000008-751D-4EF0-B022-4329C2331EF6}"/>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000000"/>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b"/>
        <c:majorGridlines>
          <c:spPr>
            <a:ln w="12700" cap="flat">
              <a:solidFill>
                <a:srgbClr val="888888"/>
              </a:solidFill>
              <a:prstDash val="solid"/>
              <a:round/>
            </a:ln>
          </c:spPr>
        </c:majorGridlines>
        <c:numFmt formatCode="General" sourceLinked="0"/>
        <c:majorTickMark val="out"/>
        <c:minorTickMark val="none"/>
        <c:tickLblPos val="low"/>
        <c:crossAx val="2094734554"/>
        <c:crosses val="autoZero"/>
        <c:crossBetween val="between"/>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Influence</c:v>
                </c:pt>
              </c:strCache>
            </c:strRef>
          </c:tx>
          <c:spPr>
            <a:solidFill>
              <a:srgbClr val="1E2761"/>
            </a:solidFill>
            <a:effectLst/>
          </c:spPr>
          <c:invertIfNegative val="0"/>
          <c:dPt>
            <c:idx val="0"/>
            <c:invertIfNegative val="0"/>
            <c:bubble3D val="0"/>
            <c:extLst>
              <c:ext xmlns:c16="http://schemas.microsoft.com/office/drawing/2014/chart" uri="{C3380CC4-5D6E-409C-BE32-E72D297353CC}">
                <c16:uniqueId val="{00000001-8099-42F2-8060-537AC4877A9D}"/>
              </c:ext>
            </c:extLst>
          </c:dPt>
          <c:dPt>
            <c:idx val="1"/>
            <c:invertIfNegative val="0"/>
            <c:bubble3D val="0"/>
            <c:extLst>
              <c:ext xmlns:c16="http://schemas.microsoft.com/office/drawing/2014/chart" uri="{C3380CC4-5D6E-409C-BE32-E72D297353CC}">
                <c16:uniqueId val="{00000003-8099-42F2-8060-537AC4877A9D}"/>
              </c:ext>
            </c:extLst>
          </c:dPt>
          <c:dPt>
            <c:idx val="2"/>
            <c:invertIfNegative val="0"/>
            <c:bubble3D val="0"/>
            <c:extLst>
              <c:ext xmlns:c16="http://schemas.microsoft.com/office/drawing/2014/chart" uri="{C3380CC4-5D6E-409C-BE32-E72D297353CC}">
                <c16:uniqueId val="{00000005-8099-42F2-8060-537AC4877A9D}"/>
              </c:ext>
            </c:extLst>
          </c:dPt>
          <c:dPt>
            <c:idx val="3"/>
            <c:invertIfNegative val="0"/>
            <c:bubble3D val="0"/>
            <c:extLst>
              <c:ext xmlns:c16="http://schemas.microsoft.com/office/drawing/2014/chart" uri="{C3380CC4-5D6E-409C-BE32-E72D297353CC}">
                <c16:uniqueId val="{00000007-8099-42F2-8060-537AC4877A9D}"/>
              </c:ext>
            </c:extLst>
          </c:dPt>
          <c:dPt>
            <c:idx val="4"/>
            <c:invertIfNegative val="0"/>
            <c:bubble3D val="0"/>
            <c:spPr>
              <a:solidFill>
                <a:srgbClr val="E24B4A"/>
              </a:solidFill>
              <a:effectLst/>
            </c:spPr>
            <c:extLst>
              <c:ext xmlns:c16="http://schemas.microsoft.com/office/drawing/2014/chart" uri="{C3380CC4-5D6E-409C-BE32-E72D297353CC}">
                <c16:uniqueId val="{00000009-8099-42F2-8060-537AC4877A9D}"/>
              </c:ext>
            </c:extLst>
          </c:dPt>
          <c:dLbls>
            <c:numFmt formatCode="0&quot;%&quot;" sourceLinked="0"/>
            <c:spPr>
              <a:noFill/>
              <a:ln>
                <a:noFill/>
              </a:ln>
              <a:effectLst/>
            </c:spPr>
            <c:txPr>
              <a:bodyPr/>
              <a:lstStyle/>
              <a:p>
                <a:pPr>
                  <a:defRPr sz="1200" b="0" i="0" u="none" strike="noStrike">
                    <a:solidFill>
                      <a:srgbClr val="1A1A2E"/>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Booking channel</c:v>
                </c:pt>
                <c:pt idx="1">
                  <c:v>Special requests made</c:v>
                </c:pt>
                <c:pt idx="2">
                  <c:v>Time of year booked</c:v>
                </c:pt>
                <c:pt idx="3">
                  <c:v>Room price</c:v>
                </c:pt>
                <c:pt idx="4">
                  <c:v>How far in advance booked</c:v>
                </c:pt>
              </c:strCache>
            </c:strRef>
          </c:cat>
          <c:val>
            <c:numRef>
              <c:f>Sheet1!$B$2:$B$6</c:f>
              <c:numCache>
                <c:formatCode>General</c:formatCode>
                <c:ptCount val="5"/>
                <c:pt idx="0">
                  <c:v>3</c:v>
                </c:pt>
                <c:pt idx="1">
                  <c:v>5</c:v>
                </c:pt>
                <c:pt idx="2">
                  <c:v>17</c:v>
                </c:pt>
                <c:pt idx="3">
                  <c:v>15</c:v>
                </c:pt>
                <c:pt idx="4">
                  <c:v>30</c:v>
                </c:pt>
              </c:numCache>
            </c:numRef>
          </c:val>
          <c:extLst>
            <c:ext xmlns:c16="http://schemas.microsoft.com/office/drawing/2014/chart" uri="{C3380CC4-5D6E-409C-BE32-E72D297353CC}">
              <c16:uniqueId val="{0000000A-8099-42F2-8060-537AC4877A9D}"/>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000000"/>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b"/>
        <c:majorGridlines>
          <c:spPr>
            <a:ln w="12700" cap="flat">
              <a:solidFill>
                <a:srgbClr val="888888"/>
              </a:solidFill>
              <a:prstDash val="solid"/>
              <a:round/>
            </a:ln>
          </c:spPr>
        </c:majorGridlines>
        <c:numFmt formatCode="General" sourceLinked="0"/>
        <c:majorTickMark val="out"/>
        <c:minorTickMark val="none"/>
        <c:tickLblPos val="low"/>
        <c:crossAx val="2094734554"/>
        <c:crosses val="autoZero"/>
        <c:crossBetween val="between"/>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Cancellation Risk</c:v>
                </c:pt>
              </c:strCache>
            </c:strRef>
          </c:tx>
          <c:spPr>
            <a:solidFill>
              <a:srgbClr val="2E9E6D"/>
            </a:solidFill>
            <a:effectLst/>
          </c:spPr>
          <c:invertIfNegative val="0"/>
          <c:dPt>
            <c:idx val="0"/>
            <c:invertIfNegative val="0"/>
            <c:bubble3D val="0"/>
            <c:extLst>
              <c:ext xmlns:c16="http://schemas.microsoft.com/office/drawing/2014/chart" uri="{C3380CC4-5D6E-409C-BE32-E72D297353CC}">
                <c16:uniqueId val="{00000001-A596-4492-B5B8-B8BBE683CFF5}"/>
              </c:ext>
            </c:extLst>
          </c:dPt>
          <c:dPt>
            <c:idx val="1"/>
            <c:invertIfNegative val="0"/>
            <c:bubble3D val="0"/>
            <c:spPr>
              <a:solidFill>
                <a:srgbClr val="E24B4A"/>
              </a:solidFill>
              <a:effectLst/>
            </c:spPr>
            <c:extLst>
              <c:ext xmlns:c16="http://schemas.microsoft.com/office/drawing/2014/chart" uri="{C3380CC4-5D6E-409C-BE32-E72D297353CC}">
                <c16:uniqueId val="{00000003-A596-4492-B5B8-B8BBE683CFF5}"/>
              </c:ext>
            </c:extLst>
          </c:dPt>
          <c:dLbls>
            <c:numFmt formatCode="0.0&quot;%&quot;" sourceLinked="0"/>
            <c:spPr>
              <a:noFill/>
              <a:ln>
                <a:noFill/>
              </a:ln>
              <a:effectLst/>
            </c:spPr>
            <c:txPr>
              <a:bodyPr/>
              <a:lstStyle/>
              <a:p>
                <a:pPr>
                  <a:defRPr sz="2200" b="1" i="0" u="none" strike="noStrike">
                    <a:solidFill>
                      <a:srgbClr val="FFFFF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Booked last-minute,
lower price, corporate</c:v>
                </c:pt>
                <c:pt idx="1">
                  <c:v>Booked far ahead,
higher price, online</c:v>
                </c:pt>
              </c:strCache>
            </c:strRef>
          </c:cat>
          <c:val>
            <c:numRef>
              <c:f>Sheet1!$B$2:$B$3</c:f>
              <c:numCache>
                <c:formatCode>General</c:formatCode>
                <c:ptCount val="2"/>
                <c:pt idx="0">
                  <c:v>2.6</c:v>
                </c:pt>
                <c:pt idx="1">
                  <c:v>95.6</c:v>
                </c:pt>
              </c:numCache>
            </c:numRef>
          </c:val>
          <c:extLst>
            <c:ext xmlns:c16="http://schemas.microsoft.com/office/drawing/2014/chart" uri="{C3380CC4-5D6E-409C-BE32-E72D297353CC}">
              <c16:uniqueId val="{00000004-A596-4492-B5B8-B8BBE683CFF5}"/>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334155"/>
            </a:solidFill>
            <a:prstDash val="solid"/>
            <a:round/>
          </a:ln>
        </c:spPr>
        <c:txPr>
          <a:bodyPr/>
          <a:lstStyle/>
          <a:p>
            <a:pPr>
              <a:defRPr sz="1300" b="0" i="0" u="none" strike="noStrike">
                <a:solidFill>
                  <a:srgbClr val="CADCFC"/>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l"/>
        <c:majorGridlines>
          <c:spPr>
            <a:ln w="12700" cap="flat">
              <a:solidFill>
                <a:srgbClr val="888888"/>
              </a:solidFill>
              <a:prstDash val="solid"/>
              <a:round/>
            </a:ln>
          </c:spPr>
        </c:majorGridlines>
        <c:numFmt formatCode="General" sourceLinked="0"/>
        <c:majorTickMark val="out"/>
        <c:minorTickMark val="none"/>
        <c:tickLblPos val="nextTo"/>
        <c:crossAx val="2094734554"/>
        <c:crosses val="autoZero"/>
        <c:crossBetween val="between"/>
      </c:valAx>
      <c:spPr>
        <a:solidFill>
          <a:srgbClr val="0F172A"/>
        </a:solidFill>
        <a:ln>
          <a:noFill/>
        </a:ln>
        <a:effectLst/>
      </c:spPr>
    </c:plotArea>
    <c:plotVisOnly val="1"/>
    <c:dispBlanksAs val="span"/>
    <c:showDLblsOverMax val="1"/>
  </c:chart>
  <c:spPr>
    <a:solidFill>
      <a:srgbClr val="0F172A"/>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48358BC7-E8D1-4F0C-98DA-76400B933926}" type="datetimeFigureOut">
              <a:t>7/28/2026</a:t>
            </a:fld>
            <a:endParaRPr lang="en-US"/>
          </a:p>
        </p:txBody>
      </p:sp>
      <p:sp>
        <p:nvSpPr>
          <p:cNvPr id="4" name="Slide Image Placeholder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1B90744A-E98F-4918-BDFD-E247D6367A82}" type="slidenum">
              <a:t>‹#›</a:t>
            </a:fld>
            <a:endParaRPr lang="en-US"/>
          </a:p>
        </p:txBody>
      </p:sp>
    </p:spTree>
    <p:extLst>
      <p:ext uri="{BB962C8B-B14F-4D97-AF65-F5344CB8AC3E}">
        <p14:creationId xmlns:p14="http://schemas.microsoft.com/office/powerpoint/2010/main" val="35069566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Every year, hotels lose thousands of room-nights to cancellations they never saw coming. Today I'm presenting CancelSense — a tool that turns booking data into an early warning system, so hotels can act before a cancellation happens instead of reacting after.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data we studied, nearly a third of all hotel bookings — 32.8% — ended in cancellation. That's lost revenue, broken occupancy forecasts, and staff who only find out a room is empty when it's already too late to fill it.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chart comes straight from the booking history we analyzed. Corporate bookings cancel about 11% of the time. Online bookings cancel over three times as often — 36.5%. That single fact — which channel a booking came through — is already one of the strongest, cheapest signals a hotel has for spotting risk early.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asked the system what it actually leans on when making a prediction. How far in advance a booking was made accounts for roughly 30% of its decision-making — nearly double the next factor, room price. Together, these five factors explain the large majority of cancellation risk across every booking in the dataset.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this looks like for two real booking profiles. A last-minute, lower-price, corporate booking comes out at just 2.6% risk. A booking made far in advance, at a higher price, through an online channel, comes out at 95.6% risk. Same system, same logic — very different outcomes depending on the booking's own details.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how we built it, in plain terms. We learned from over thirty-six thousand real bookings. We compared several predictive techniques against each other rather than assuming one would win. We validated every result against data the system had never seen, and selected the strongest approach based on evidence.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how well does it actually work? Tested against thousands of real bookings it had never seen before: ninety percent overall forecasting accuracy. It catches eighty-two percent of actual cancellations in advance. And it's ninety-six percent reliable at telling high-risk and low-risk bookings apart.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of this comes together in a single dashboard. A live, color-coded risk score for every booking. Plain-language reasoning behind each one. Ranked recommended actions, matched to how urgent the risk is. And a financial impact view, so staff see what's actually at stake before they decide whether to act.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should a hotel actually do with this? Four things, all tied directly to what the data showed: watch long-lead bookings closely, add friction to online bookings, recognize the guests who show real commitment, and let the risk score guide where staff spend their time — instead of treating every booking the same.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that looks like in practice. Without an early warning system, a high-value booking cancels with no notice — the room sits empty, and the revenue is simply gone. With CancelSense, that same booking is flagged as high-risk weeks earlier, a simple reminder or deposit request goes out, and the stay is protected before it's ever lost.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cancellation predicted is revenue protected. That's CancelSense. Thank you — I'm happy to take any questions.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hyperlink" Target="https://hotel-cancellation-prediction-7cn3s7u84sjrjkhcgki4r4.streamlit.app/" TargetMode="Externa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a:effectLst/>
      </p:bgPr>
    </p:bg>
    <p:spTree>
      <p:nvGrpSpPr>
        <p:cNvPr id="1" name=""/>
        <p:cNvGrpSpPr/>
        <p:nvPr/>
      </p:nvGrpSpPr>
      <p:grpSpPr>
        <a:xfrm>
          <a:off x="0" y="0"/>
          <a:ext cx="0" cy="0"/>
          <a:chOff x="0" y="0"/>
          <a:chExt cx="0" cy="0"/>
        </a:xfrm>
      </p:grpSpPr>
      <p:grpSp>
        <p:nvGrpSpPr>
          <p:cNvPr id="14" name="Group 13">
            <a:extLst>
              <a:ext uri="{FF2B5EF4-FFF2-40B4-BE49-F238E27FC236}">
                <a16:creationId xmlns:a16="http://schemas.microsoft.com/office/drawing/2014/main" id="{E61134C7-2296-4804-7434-C93EF736D808}"/>
              </a:ext>
            </a:extLst>
          </p:cNvPr>
          <p:cNvGrpSpPr/>
          <p:nvPr/>
        </p:nvGrpSpPr>
        <p:grpSpPr>
          <a:xfrm>
            <a:off x="1451" y="4354"/>
            <a:ext cx="12191002" cy="7123994"/>
            <a:chOff x="1451" y="-2903"/>
            <a:chExt cx="12191002" cy="7123994"/>
          </a:xfrm>
        </p:grpSpPr>
        <p:grpSp>
          <p:nvGrpSpPr>
            <p:cNvPr id="12" name="Group 11">
              <a:extLst>
                <a:ext uri="{FF2B5EF4-FFF2-40B4-BE49-F238E27FC236}">
                  <a16:creationId xmlns:a16="http://schemas.microsoft.com/office/drawing/2014/main" id="{8E593D13-6763-FB44-97DB-3AECB467D703}"/>
                </a:ext>
              </a:extLst>
            </p:cNvPr>
            <p:cNvGrpSpPr/>
            <p:nvPr/>
          </p:nvGrpSpPr>
          <p:grpSpPr>
            <a:xfrm>
              <a:off x="1451" y="-2903"/>
              <a:ext cx="12027989" cy="7123994"/>
              <a:chOff x="1451" y="-2903"/>
              <a:chExt cx="12027989" cy="7123994"/>
            </a:xfrm>
          </p:grpSpPr>
          <p:grpSp>
            <p:nvGrpSpPr>
              <p:cNvPr id="10" name="Group 9">
                <a:extLst>
                  <a:ext uri="{FF2B5EF4-FFF2-40B4-BE49-F238E27FC236}">
                    <a16:creationId xmlns:a16="http://schemas.microsoft.com/office/drawing/2014/main" id="{BB8C23A8-CD67-CE51-5963-5881C2BE1382}"/>
                  </a:ext>
                </a:extLst>
              </p:cNvPr>
              <p:cNvGrpSpPr/>
              <p:nvPr/>
            </p:nvGrpSpPr>
            <p:grpSpPr>
              <a:xfrm>
                <a:off x="1451" y="-2903"/>
                <a:ext cx="12027989" cy="6863806"/>
                <a:chOff x="1451" y="-2903"/>
                <a:chExt cx="12027989" cy="6863806"/>
              </a:xfrm>
            </p:grpSpPr>
            <p:sp>
              <p:nvSpPr>
                <p:cNvPr id="2" name="Shape 0"/>
                <p:cNvSpPr/>
                <p:nvPr/>
              </p:nvSpPr>
              <p:spPr>
                <a:xfrm>
                  <a:off x="7000240" y="-2903"/>
                  <a:ext cx="5029200" cy="5029200"/>
                </a:xfrm>
                <a:prstGeom prst="ellipse">
                  <a:avLst/>
                </a:prstGeom>
                <a:solidFill>
                  <a:srgbClr val="1E2761"/>
                </a:solidFill>
                <a:ln/>
              </p:spPr>
            </p:sp>
            <p:sp>
              <p:nvSpPr>
                <p:cNvPr id="3" name="Shape 1"/>
                <p:cNvSpPr/>
                <p:nvPr/>
              </p:nvSpPr>
              <p:spPr>
                <a:xfrm>
                  <a:off x="1451" y="3020423"/>
                  <a:ext cx="3840480" cy="3840480"/>
                </a:xfrm>
                <a:prstGeom prst="ellipse">
                  <a:avLst/>
                </a:prstGeom>
                <a:solidFill>
                  <a:srgbClr val="1E2761"/>
                </a:solidFill>
                <a:ln/>
              </p:spPr>
            </p:sp>
            <p:sp>
              <p:nvSpPr>
                <p:cNvPr id="4" name="Text 2"/>
                <p:cNvSpPr/>
                <p:nvPr/>
              </p:nvSpPr>
              <p:spPr>
                <a:xfrm>
                  <a:off x="656046" y="1978297"/>
                  <a:ext cx="9601200" cy="457200"/>
                </a:xfrm>
                <a:prstGeom prst="rect">
                  <a:avLst/>
                </a:prstGeom>
                <a:noFill/>
                <a:ln/>
              </p:spPr>
              <p:txBody>
                <a:bodyPr wrap="square" lIns="0" tIns="0" rIns="0" bIns="0" rtlCol="0" anchor="ctr"/>
                <a:lstStyle/>
                <a:p>
                  <a:pPr marL="0" indent="0">
                    <a:buNone/>
                  </a:pPr>
                  <a:r>
                    <a:rPr lang="en-US" sz="2000" b="1" kern="0" spc="200" dirty="0">
                      <a:solidFill>
                        <a:srgbClr val="CADCFC"/>
                      </a:solidFill>
                      <a:latin typeface="Calibri"/>
                      <a:ea typeface="Calibri"/>
                      <a:cs typeface="Calibri"/>
                    </a:rPr>
                    <a:t>EVERY YEAR, HOTELS LOSE THOUSANDS OF ROOM-NIGHTS</a:t>
                  </a:r>
                  <a:endParaRPr lang="en-US" sz="2000">
                    <a:latin typeface="Calibri"/>
                    <a:ea typeface="Calibri"/>
                    <a:cs typeface="Calibri"/>
                  </a:endParaRPr>
                </a:p>
              </p:txBody>
            </p:sp>
            <p:sp>
              <p:nvSpPr>
                <p:cNvPr id="5" name="Text 3"/>
                <p:cNvSpPr/>
                <p:nvPr/>
              </p:nvSpPr>
              <p:spPr>
                <a:xfrm>
                  <a:off x="656046" y="2389777"/>
                  <a:ext cx="9601200" cy="457200"/>
                </a:xfrm>
                <a:prstGeom prst="rect">
                  <a:avLst/>
                </a:prstGeom>
                <a:noFill/>
                <a:ln/>
              </p:spPr>
              <p:txBody>
                <a:bodyPr wrap="square" lIns="0" tIns="0" rIns="0" bIns="0" rtlCol="0" anchor="ctr"/>
                <a:lstStyle/>
                <a:p>
                  <a:pPr marL="0" indent="0">
                    <a:buNone/>
                  </a:pPr>
                  <a:r>
                    <a:rPr lang="en-US" sz="1300" b="1" kern="0" spc="200" dirty="0">
                      <a:solidFill>
                        <a:srgbClr val="CADCFC"/>
                      </a:solidFill>
                      <a:latin typeface="Calibri" pitchFamily="34" charset="0"/>
                      <a:ea typeface="Calibri" pitchFamily="34" charset="-122"/>
                      <a:cs typeface="Calibri" pitchFamily="34" charset="-120"/>
                    </a:rPr>
                    <a:t>TO CANCELLATIONS NO ONE SAW COMING.</a:t>
                  </a:r>
                  <a:endParaRPr lang="en-US" sz="1300" dirty="0"/>
                </a:p>
              </p:txBody>
            </p:sp>
            <p:sp>
              <p:nvSpPr>
                <p:cNvPr id="6" name="Text 4"/>
                <p:cNvSpPr/>
                <p:nvPr/>
              </p:nvSpPr>
              <p:spPr>
                <a:xfrm>
                  <a:off x="436154" y="177075"/>
                  <a:ext cx="9601200" cy="1371600"/>
                </a:xfrm>
                <a:prstGeom prst="rect">
                  <a:avLst/>
                </a:prstGeom>
                <a:noFill/>
                <a:ln/>
              </p:spPr>
              <p:txBody>
                <a:bodyPr wrap="square" lIns="0" tIns="0" rIns="0" bIns="0" rtlCol="0" anchor="ctr"/>
                <a:lstStyle/>
                <a:p>
                  <a:r>
                    <a:rPr lang="en-US" sz="6000" b="1" i="1" dirty="0" err="1">
                      <a:solidFill>
                        <a:srgbClr val="FFFFFF"/>
                      </a:solidFill>
                      <a:ea typeface="+mn-lt"/>
                      <a:cs typeface="+mn-lt"/>
                    </a:rPr>
                    <a:t>StayCertain</a:t>
                  </a:r>
                  <a:endParaRPr lang="en-US" sz="6000" i="1">
                    <a:solidFill>
                      <a:srgbClr val="FFFFFF"/>
                    </a:solidFill>
                    <a:latin typeface="Calibri"/>
                    <a:ea typeface="Calibri"/>
                    <a:cs typeface="Calibri"/>
                  </a:endParaRPr>
                </a:p>
              </p:txBody>
            </p:sp>
            <p:sp>
              <p:nvSpPr>
                <p:cNvPr id="7" name="Text 5"/>
                <p:cNvSpPr/>
                <p:nvPr/>
              </p:nvSpPr>
              <p:spPr>
                <a:xfrm>
                  <a:off x="583474" y="2990669"/>
                  <a:ext cx="8686800" cy="914400"/>
                </a:xfrm>
                <a:prstGeom prst="rect">
                  <a:avLst/>
                </a:prstGeom>
                <a:noFill/>
                <a:ln/>
              </p:spPr>
              <p:txBody>
                <a:bodyPr wrap="square" lIns="0" tIns="0" rIns="0" bIns="0" rtlCol="0" anchor="ctr"/>
                <a:lstStyle/>
                <a:p>
                  <a:pPr marL="0" indent="0">
                    <a:lnSpc>
                      <a:spcPct val="125000"/>
                    </a:lnSpc>
                    <a:buNone/>
                  </a:pPr>
                  <a:r>
                    <a:rPr lang="en-US" sz="2000" b="1" dirty="0">
                      <a:solidFill>
                        <a:srgbClr val="CADCFC"/>
                      </a:solidFill>
                      <a:latin typeface="Calibri"/>
                      <a:ea typeface="Calibri"/>
                      <a:cs typeface="Calibri"/>
                    </a:rPr>
                    <a:t>Turning booking data into earlier warnings — and smarter decisions.</a:t>
                  </a:r>
                  <a:endParaRPr lang="en-US" sz="2000" b="1">
                    <a:latin typeface="Calibri"/>
                    <a:ea typeface="Calibri"/>
                    <a:cs typeface="Calibri"/>
                  </a:endParaRPr>
                </a:p>
              </p:txBody>
            </p:sp>
            <p:sp>
              <p:nvSpPr>
                <p:cNvPr id="8" name="Shape 6"/>
                <p:cNvSpPr/>
                <p:nvPr/>
              </p:nvSpPr>
              <p:spPr>
                <a:xfrm>
                  <a:off x="576217" y="3954417"/>
                  <a:ext cx="2743200" cy="0"/>
                </a:xfrm>
                <a:prstGeom prst="line">
                  <a:avLst/>
                </a:prstGeom>
                <a:noFill/>
                <a:ln w="25400">
                  <a:solidFill>
                    <a:srgbClr val="1C7293"/>
                  </a:solidFill>
                  <a:prstDash val="solid"/>
                </a:ln>
              </p:spPr>
            </p:sp>
            <p:sp>
              <p:nvSpPr>
                <p:cNvPr id="9" name="Text 7"/>
                <p:cNvSpPr/>
                <p:nvPr/>
              </p:nvSpPr>
              <p:spPr>
                <a:xfrm>
                  <a:off x="489131" y="4055291"/>
                  <a:ext cx="7772400" cy="457200"/>
                </a:xfrm>
                <a:prstGeom prst="rect">
                  <a:avLst/>
                </a:prstGeom>
                <a:noFill/>
                <a:ln/>
              </p:spPr>
              <p:txBody>
                <a:bodyPr wrap="square" lIns="0" tIns="0" rIns="0" bIns="0" rtlCol="0" anchor="ctr"/>
                <a:lstStyle/>
                <a:p>
                  <a:pPr marL="0" indent="0">
                    <a:buNone/>
                  </a:pPr>
                  <a:r>
                    <a:rPr lang="en-US" i="1" dirty="0">
                      <a:solidFill>
                        <a:schemeClr val="bg1"/>
                      </a:solidFill>
                      <a:latin typeface="Calibri"/>
                      <a:ea typeface="Calibri"/>
                      <a:cs typeface="Calibri"/>
                    </a:rPr>
                    <a:t>A decision-support tool for hotel revenue and front-desk teams</a:t>
                  </a:r>
                  <a:endParaRPr lang="en-US">
                    <a:solidFill>
                      <a:schemeClr val="bg1"/>
                    </a:solidFill>
                    <a:latin typeface="Calibri"/>
                    <a:ea typeface="Calibri"/>
                    <a:cs typeface="Calibri"/>
                  </a:endParaRPr>
                </a:p>
              </p:txBody>
            </p:sp>
          </p:grpSp>
          <p:sp>
            <p:nvSpPr>
              <p:cNvPr id="11" name="TextBox 10">
                <a:extLst>
                  <a:ext uri="{FF2B5EF4-FFF2-40B4-BE49-F238E27FC236}">
                    <a16:creationId xmlns:a16="http://schemas.microsoft.com/office/drawing/2014/main" id="{5B05CD37-F529-1755-E21F-E96FFA4F9FEB}"/>
                  </a:ext>
                </a:extLst>
              </p:cNvPr>
              <p:cNvSpPr txBox="1"/>
              <p:nvPr/>
            </p:nvSpPr>
            <p:spPr>
              <a:xfrm>
                <a:off x="8418285" y="3704771"/>
                <a:ext cx="3345544" cy="34163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chemeClr val="accent2">
                        <a:lumMod val="60000"/>
                        <a:lumOff val="40000"/>
                      </a:schemeClr>
                    </a:solidFill>
                    <a:ea typeface="+mn-lt"/>
                    <a:cs typeface="+mn-lt"/>
                  </a:rPr>
                  <a:t>Group 1 Beta Class Members:</a:t>
                </a:r>
                <a:endParaRPr lang="en-US" b="1">
                  <a:solidFill>
                    <a:schemeClr val="accent2">
                      <a:lumMod val="60000"/>
                      <a:lumOff val="40000"/>
                    </a:schemeClr>
                  </a:solidFill>
                  <a:ea typeface="Calibri"/>
                  <a:cs typeface="Calibri"/>
                </a:endParaRPr>
              </a:p>
              <a:p>
                <a:r>
                  <a:rPr lang="en-US" b="1">
                    <a:solidFill>
                      <a:schemeClr val="bg1"/>
                    </a:solidFill>
                    <a:ea typeface="+mn-lt"/>
                    <a:cs typeface="+mn-lt"/>
                  </a:rPr>
                  <a:t>Bahati Msiska</a:t>
                </a:r>
                <a:endParaRPr lang="en-US" b="1">
                  <a:solidFill>
                    <a:schemeClr val="bg1"/>
                  </a:solidFill>
                  <a:ea typeface="Calibri"/>
                  <a:cs typeface="Calibri"/>
                </a:endParaRPr>
              </a:p>
              <a:p>
                <a:r>
                  <a:rPr lang="en-US" b="1">
                    <a:solidFill>
                      <a:schemeClr val="bg1"/>
                    </a:solidFill>
                    <a:ea typeface="+mn-lt"/>
                    <a:cs typeface="+mn-lt"/>
                  </a:rPr>
                  <a:t>Mangaliso Dlamini Lihle</a:t>
                </a:r>
                <a:endParaRPr lang="en-US" b="1" dirty="0">
                  <a:solidFill>
                    <a:schemeClr val="bg1"/>
                  </a:solidFill>
                  <a:ea typeface="+mn-lt"/>
                  <a:cs typeface="+mn-lt"/>
                </a:endParaRPr>
              </a:p>
              <a:p>
                <a:r>
                  <a:rPr lang="en-US" b="1">
                    <a:solidFill>
                      <a:schemeClr val="bg1"/>
                    </a:solidFill>
                    <a:ea typeface="+mn-lt"/>
                    <a:cs typeface="+mn-lt"/>
                  </a:rPr>
                  <a:t>Elisée HOUDEGBE Gildas</a:t>
                </a:r>
                <a:endParaRPr lang="en-US" b="1" dirty="0">
                  <a:solidFill>
                    <a:schemeClr val="bg1"/>
                  </a:solidFill>
                  <a:ea typeface="Calibri"/>
                  <a:cs typeface="Calibri"/>
                </a:endParaRPr>
              </a:p>
              <a:p>
                <a:r>
                  <a:rPr lang="en-US" b="1">
                    <a:solidFill>
                      <a:schemeClr val="bg1"/>
                    </a:solidFill>
                  </a:rPr>
                  <a:t>Wandiya James </a:t>
                </a:r>
                <a:endParaRPr lang="en-US" b="1" dirty="0">
                  <a:solidFill>
                    <a:schemeClr val="bg1"/>
                  </a:solidFill>
                  <a:ea typeface="Calibri"/>
                  <a:cs typeface="Calibri"/>
                </a:endParaRPr>
              </a:p>
              <a:p>
                <a:r>
                  <a:rPr lang="en-US" b="1">
                    <a:solidFill>
                      <a:schemeClr val="bg1"/>
                    </a:solidFill>
                    <a:ea typeface="+mn-lt"/>
                    <a:cs typeface="+mn-lt"/>
                  </a:rPr>
                  <a:t>Francisca Ike Onyinyechi </a:t>
                </a:r>
                <a:endParaRPr lang="en-US" b="1" dirty="0">
                  <a:solidFill>
                    <a:schemeClr val="bg1"/>
                  </a:solidFill>
                  <a:ea typeface="Calibri"/>
                  <a:cs typeface="Calibri"/>
                </a:endParaRPr>
              </a:p>
              <a:p>
                <a:r>
                  <a:rPr lang="en-US" b="1">
                    <a:solidFill>
                      <a:schemeClr val="bg1"/>
                    </a:solidFill>
                    <a:ea typeface="+mn-lt"/>
                    <a:cs typeface="+mn-lt"/>
                  </a:rPr>
                  <a:t>Rhodalyn Dowuona</a:t>
                </a:r>
                <a:r>
                  <a:rPr lang="en-US" b="1" dirty="0">
                    <a:solidFill>
                      <a:schemeClr val="bg1"/>
                    </a:solidFill>
                    <a:ea typeface="+mn-lt"/>
                    <a:cs typeface="+mn-lt"/>
                  </a:rPr>
                  <a:t> Naa Norley </a:t>
                </a:r>
                <a:endParaRPr lang="en-US" b="1" dirty="0">
                  <a:solidFill>
                    <a:schemeClr val="bg1"/>
                  </a:solidFill>
                  <a:ea typeface="Calibri"/>
                  <a:cs typeface="Calibri"/>
                </a:endParaRPr>
              </a:p>
              <a:p>
                <a:r>
                  <a:rPr lang="en-US" b="1" dirty="0">
                    <a:solidFill>
                      <a:schemeClr val="bg1"/>
                    </a:solidFill>
                    <a:ea typeface="+mn-lt"/>
                    <a:cs typeface="+mn-lt"/>
                  </a:rPr>
                  <a:t>Aly </a:t>
                </a:r>
                <a:r>
                  <a:rPr lang="en-US" b="1" dirty="0" err="1">
                    <a:solidFill>
                      <a:schemeClr val="bg1"/>
                    </a:solidFill>
                    <a:ea typeface="+mn-lt"/>
                    <a:cs typeface="+mn-lt"/>
                  </a:rPr>
                  <a:t>Tidiga</a:t>
                </a:r>
                <a:endParaRPr lang="en-US" b="1">
                  <a:solidFill>
                    <a:schemeClr val="bg1"/>
                  </a:solidFill>
                  <a:ea typeface="+mn-lt"/>
                  <a:cs typeface="+mn-lt"/>
                </a:endParaRPr>
              </a:p>
              <a:p>
                <a:endParaRPr lang="en-US" b="1" dirty="0">
                  <a:solidFill>
                    <a:schemeClr val="bg1"/>
                  </a:solidFill>
                  <a:ea typeface="Calibri"/>
                  <a:cs typeface="Calibri"/>
                </a:endParaRPr>
              </a:p>
              <a:p>
                <a:endParaRPr lang="en-US" b="1" dirty="0">
                  <a:solidFill>
                    <a:schemeClr val="bg1"/>
                  </a:solidFill>
                  <a:ea typeface="Calibri"/>
                  <a:cs typeface="Calibri"/>
                </a:endParaRPr>
              </a:p>
              <a:p>
                <a:endParaRPr lang="en-US" b="1" dirty="0">
                  <a:solidFill>
                    <a:schemeClr val="bg1"/>
                  </a:solidFill>
                  <a:ea typeface="Calibri"/>
                  <a:cs typeface="Calibri"/>
                </a:endParaRPr>
              </a:p>
              <a:p>
                <a:pPr algn="ctr"/>
                <a:endParaRPr lang="en-US" b="1" dirty="0">
                  <a:solidFill>
                    <a:schemeClr val="bg1"/>
                  </a:solidFill>
                  <a:ea typeface="Calibri"/>
                  <a:cs typeface="Calibri"/>
                </a:endParaRPr>
              </a:p>
            </p:txBody>
          </p:sp>
        </p:grpSp>
        <p:pic>
          <p:nvPicPr>
            <p:cNvPr id="13" name="Picture 12">
              <a:extLst>
                <a:ext uri="{FF2B5EF4-FFF2-40B4-BE49-F238E27FC236}">
                  <a16:creationId xmlns:a16="http://schemas.microsoft.com/office/drawing/2014/main" id="{3AF29DED-3095-3F85-C81E-6D728CA7EB44}"/>
                </a:ext>
              </a:extLst>
            </p:cNvPr>
            <p:cNvPicPr>
              <a:picLocks noChangeAspect="1"/>
            </p:cNvPicPr>
            <p:nvPr/>
          </p:nvPicPr>
          <p:blipFill>
            <a:blip r:embed="rId3"/>
            <a:stretch>
              <a:fillRect/>
            </a:stretch>
          </p:blipFill>
          <p:spPr>
            <a:xfrm>
              <a:off x="9586233" y="50800"/>
              <a:ext cx="2606220" cy="1778000"/>
            </a:xfrm>
            <a:prstGeom prst="rect">
              <a:avLst/>
            </a:prstGeom>
          </p:spPr>
        </p:pic>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B"/>
        </a:solidFill>
        <a:effectLst/>
      </p:bgPr>
    </p:bg>
    <p:spTree>
      <p:nvGrpSpPr>
        <p:cNvPr id="1" name=""/>
        <p:cNvGrpSpPr/>
        <p:nvPr/>
      </p:nvGrpSpPr>
      <p:grpSpPr>
        <a:xfrm>
          <a:off x="0" y="0"/>
          <a:ext cx="0" cy="0"/>
          <a:chOff x="0" y="0"/>
          <a:chExt cx="0" cy="0"/>
        </a:xfrm>
      </p:grpSpPr>
      <p:grpSp>
        <p:nvGrpSpPr>
          <p:cNvPr id="21" name="Group 20">
            <a:extLst>
              <a:ext uri="{FF2B5EF4-FFF2-40B4-BE49-F238E27FC236}">
                <a16:creationId xmlns:a16="http://schemas.microsoft.com/office/drawing/2014/main" id="{E91B48F0-FD2E-F11A-976B-A4BC936F73F4}"/>
              </a:ext>
            </a:extLst>
          </p:cNvPr>
          <p:cNvGrpSpPr/>
          <p:nvPr/>
        </p:nvGrpSpPr>
        <p:grpSpPr>
          <a:xfrm>
            <a:off x="822960" y="502920"/>
            <a:ext cx="10515600" cy="5486400"/>
            <a:chOff x="822960" y="502920"/>
            <a:chExt cx="10515600" cy="5486400"/>
          </a:xfrm>
        </p:grpSpPr>
        <p:sp>
          <p:nvSpPr>
            <p:cNvPr id="2" name="Text 0"/>
            <p:cNvSpPr/>
            <p:nvPr/>
          </p:nvSpPr>
          <p:spPr>
            <a:xfrm>
              <a:off x="822960" y="502920"/>
              <a:ext cx="7315200" cy="365760"/>
            </a:xfrm>
            <a:prstGeom prst="rect">
              <a:avLst/>
            </a:prstGeom>
            <a:noFill/>
            <a:ln/>
          </p:spPr>
          <p:txBody>
            <a:bodyPr wrap="square" lIns="0" tIns="0" rIns="0" bIns="0" rtlCol="0" anchor="ctr"/>
            <a:lstStyle/>
            <a:p>
              <a:pPr marL="0" indent="0">
                <a:buNone/>
              </a:pPr>
              <a:r>
                <a:rPr lang="en-US" sz="3600" b="1" kern="0" spc="200" dirty="0">
                  <a:solidFill>
                    <a:srgbClr val="E24B4A"/>
                  </a:solidFill>
                  <a:latin typeface="Aptos"/>
                  <a:ea typeface="Calibri"/>
                  <a:cs typeface="Calibri"/>
                </a:rPr>
                <a:t>THE PROBLEM</a:t>
              </a:r>
              <a:endParaRPr lang="en-US" sz="3600">
                <a:latin typeface="Aptos"/>
                <a:ea typeface="Calibri"/>
                <a:cs typeface="Calibri"/>
              </a:endParaRPr>
            </a:p>
          </p:txBody>
        </p:sp>
        <p:sp>
          <p:nvSpPr>
            <p:cNvPr id="3" name="Text 1"/>
            <p:cNvSpPr/>
            <p:nvPr/>
          </p:nvSpPr>
          <p:spPr>
            <a:xfrm>
              <a:off x="822960" y="868680"/>
              <a:ext cx="10058400" cy="731520"/>
            </a:xfrm>
            <a:prstGeom prst="rect">
              <a:avLst/>
            </a:prstGeom>
            <a:noFill/>
            <a:ln/>
          </p:spPr>
          <p:txBody>
            <a:bodyPr wrap="square" lIns="0" tIns="0" rIns="0" bIns="0" rtlCol="0" anchor="ctr"/>
            <a:lstStyle/>
            <a:p>
              <a:pPr marL="0" indent="0">
                <a:buNone/>
              </a:pPr>
              <a:r>
                <a:rPr lang="en-US" sz="3000" b="1" dirty="0">
                  <a:solidFill>
                    <a:srgbClr val="1A1A2E"/>
                  </a:solidFill>
                  <a:latin typeface="Cambria"/>
                  <a:ea typeface="Cambria"/>
                  <a:cs typeface="Cambria" pitchFamily="34" charset="-120"/>
                </a:rPr>
                <a:t>Cancellations are invisible — until it's too late.</a:t>
              </a:r>
              <a:endParaRPr lang="en-US" sz="3000" b="1">
                <a:latin typeface="Calibri"/>
                <a:ea typeface="Calibri"/>
                <a:cs typeface="Calibri"/>
              </a:endParaRPr>
            </a:p>
          </p:txBody>
        </p:sp>
        <p:sp>
          <p:nvSpPr>
            <p:cNvPr id="4" name="Shape 2"/>
            <p:cNvSpPr/>
            <p:nvPr/>
          </p:nvSpPr>
          <p:spPr>
            <a:xfrm>
              <a:off x="822960" y="1874520"/>
              <a:ext cx="3749040" cy="4114800"/>
            </a:xfrm>
            <a:prstGeom prst="roundRect">
              <a:avLst>
                <a:gd name="adj" fmla="val 2927"/>
              </a:avLst>
            </a:prstGeom>
            <a:solidFill>
              <a:srgbClr val="0F172A"/>
            </a:solidFill>
            <a:ln/>
          </p:spPr>
        </p:sp>
        <p:sp>
          <p:nvSpPr>
            <p:cNvPr id="5" name="Text 3"/>
            <p:cNvSpPr/>
            <p:nvPr/>
          </p:nvSpPr>
          <p:spPr>
            <a:xfrm>
              <a:off x="822960" y="2331720"/>
              <a:ext cx="3749040" cy="1188720"/>
            </a:xfrm>
            <a:prstGeom prst="rect">
              <a:avLst/>
            </a:prstGeom>
            <a:noFill/>
            <a:ln/>
          </p:spPr>
          <p:txBody>
            <a:bodyPr wrap="square" lIns="0" tIns="0" rIns="0" bIns="0" rtlCol="0" anchor="ctr"/>
            <a:lstStyle/>
            <a:p>
              <a:pPr marL="0" indent="0" algn="ctr">
                <a:buNone/>
              </a:pPr>
              <a:r>
                <a:rPr lang="en-US" sz="5800" b="1">
                  <a:solidFill>
                    <a:srgbClr val="E24B4A"/>
                  </a:solidFill>
                  <a:latin typeface="Cambria"/>
                  <a:ea typeface="Cambria"/>
                  <a:cs typeface="Cambria" pitchFamily="34" charset="-120"/>
                </a:rPr>
                <a:t>75.8%</a:t>
              </a:r>
              <a:endParaRPr lang="en-US" sz="5800">
                <a:latin typeface="Cambria"/>
                <a:ea typeface="Cambria"/>
              </a:endParaRPr>
            </a:p>
          </p:txBody>
        </p:sp>
        <p:sp>
          <p:nvSpPr>
            <p:cNvPr id="6" name="Text 4"/>
            <p:cNvSpPr/>
            <p:nvPr/>
          </p:nvSpPr>
          <p:spPr>
            <a:xfrm>
              <a:off x="1051560" y="3520440"/>
              <a:ext cx="3291840" cy="822960"/>
            </a:xfrm>
            <a:prstGeom prst="rect">
              <a:avLst/>
            </a:prstGeom>
            <a:noFill/>
            <a:ln/>
          </p:spPr>
          <p:txBody>
            <a:bodyPr wrap="square" lIns="0" tIns="0" rIns="0" bIns="0" rtlCol="0" anchor="ctr"/>
            <a:lstStyle/>
            <a:p>
              <a:pPr marL="0" indent="0" algn="ctr">
                <a:lnSpc>
                  <a:spcPct val="120000"/>
                </a:lnSpc>
                <a:buNone/>
              </a:pPr>
              <a:r>
                <a:rPr lang="en-US" b="1" dirty="0">
                  <a:solidFill>
                    <a:srgbClr val="FFFFFF"/>
                  </a:solidFill>
                  <a:latin typeface="Calibri"/>
                  <a:ea typeface="Calibri"/>
                  <a:cs typeface="Calibri"/>
                </a:rPr>
                <a:t>of hotel bookings</a:t>
              </a:r>
              <a:endParaRPr lang="en-US" b="1">
                <a:latin typeface="Calibri"/>
                <a:ea typeface="Calibri"/>
                <a:cs typeface="Calibri"/>
              </a:endParaRPr>
            </a:p>
            <a:p>
              <a:pPr marL="0" indent="0" algn="ctr">
                <a:lnSpc>
                  <a:spcPct val="120000"/>
                </a:lnSpc>
                <a:buNone/>
              </a:pPr>
              <a:r>
                <a:rPr lang="en-US" b="1" dirty="0">
                  <a:solidFill>
                    <a:srgbClr val="FFFFFF"/>
                  </a:solidFill>
                  <a:latin typeface="Calibri"/>
                  <a:ea typeface="Calibri"/>
                  <a:cs typeface="Calibri"/>
                </a:rPr>
                <a:t>in our study were cancelled</a:t>
              </a:r>
              <a:endParaRPr lang="en-US" b="1">
                <a:latin typeface="Calibri"/>
                <a:ea typeface="Calibri"/>
                <a:cs typeface="Calibri"/>
              </a:endParaRPr>
            </a:p>
          </p:txBody>
        </p:sp>
        <p:sp>
          <p:nvSpPr>
            <p:cNvPr id="7" name="Shape 5"/>
            <p:cNvSpPr/>
            <p:nvPr/>
          </p:nvSpPr>
          <p:spPr>
            <a:xfrm>
              <a:off x="1371600" y="4480560"/>
              <a:ext cx="2651760" cy="0"/>
            </a:xfrm>
            <a:prstGeom prst="line">
              <a:avLst/>
            </a:prstGeom>
            <a:noFill/>
            <a:ln w="12700">
              <a:solidFill>
                <a:srgbClr val="1C7293"/>
              </a:solidFill>
              <a:prstDash val="solid"/>
            </a:ln>
          </p:spPr>
        </p:sp>
        <p:sp>
          <p:nvSpPr>
            <p:cNvPr id="8" name="Text 6"/>
            <p:cNvSpPr/>
            <p:nvPr/>
          </p:nvSpPr>
          <p:spPr>
            <a:xfrm>
              <a:off x="1051560" y="4617720"/>
              <a:ext cx="3291840" cy="1005840"/>
            </a:xfrm>
            <a:prstGeom prst="rect">
              <a:avLst/>
            </a:prstGeom>
            <a:noFill/>
            <a:ln/>
          </p:spPr>
          <p:txBody>
            <a:bodyPr wrap="square" lIns="0" tIns="0" rIns="0" bIns="0" rtlCol="0" anchor="ctr"/>
            <a:lstStyle/>
            <a:p>
              <a:pPr marL="0" indent="0" algn="ctr">
                <a:lnSpc>
                  <a:spcPct val="120000"/>
                </a:lnSpc>
                <a:buNone/>
              </a:pPr>
              <a:r>
                <a:rPr lang="en-US" sz="1600" b="1" i="1" dirty="0">
                  <a:solidFill>
                    <a:srgbClr val="CADCFC"/>
                  </a:solidFill>
                  <a:latin typeface="Calibri"/>
                  <a:ea typeface="Calibri"/>
                  <a:cs typeface="Calibri"/>
                </a:rPr>
                <a:t>Nearly 1 in 3 reservations — with no early warning at all.</a:t>
              </a:r>
              <a:endParaRPr lang="en-US" sz="1600" b="1">
                <a:latin typeface="Calibri"/>
                <a:ea typeface="Calibri"/>
                <a:cs typeface="Calibri"/>
              </a:endParaRPr>
            </a:p>
          </p:txBody>
        </p:sp>
        <p:sp>
          <p:nvSpPr>
            <p:cNvPr id="9" name="Shape 7"/>
            <p:cNvSpPr/>
            <p:nvPr/>
          </p:nvSpPr>
          <p:spPr>
            <a:xfrm>
              <a:off x="5074920" y="1874520"/>
              <a:ext cx="566928" cy="566928"/>
            </a:xfrm>
            <a:prstGeom prst="ellipse">
              <a:avLst/>
            </a:prstGeom>
            <a:solidFill>
              <a:srgbClr val="E24B4A"/>
            </a:solidFill>
            <a:ln/>
          </p:spPr>
        </p:sp>
        <p:sp>
          <p:nvSpPr>
            <p:cNvPr id="10" name="Text 8"/>
            <p:cNvSpPr/>
            <p:nvPr/>
          </p:nvSpPr>
          <p:spPr>
            <a:xfrm>
              <a:off x="5074920" y="1874520"/>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11" name="Text 9"/>
            <p:cNvSpPr/>
            <p:nvPr/>
          </p:nvSpPr>
          <p:spPr>
            <a:xfrm>
              <a:off x="5852160" y="1856232"/>
              <a:ext cx="5486400" cy="365760"/>
            </a:xfrm>
            <a:prstGeom prst="rect">
              <a:avLst/>
            </a:prstGeom>
            <a:noFill/>
            <a:ln/>
          </p:spPr>
          <p:txBody>
            <a:bodyPr wrap="square" lIns="0" tIns="0" rIns="0" bIns="0" rtlCol="0" anchor="ctr"/>
            <a:lstStyle/>
            <a:p>
              <a:pPr marL="0" indent="0">
                <a:buNone/>
              </a:pPr>
              <a:r>
                <a:rPr lang="en-US" sz="1700" b="1" dirty="0">
                  <a:solidFill>
                    <a:srgbClr val="1A1A2E"/>
                  </a:solidFill>
                  <a:latin typeface="Cambria" pitchFamily="34" charset="0"/>
                  <a:ea typeface="Cambria" pitchFamily="34" charset="-122"/>
                  <a:cs typeface="Cambria" pitchFamily="34" charset="-120"/>
                </a:rPr>
                <a:t>Lost Revenue</a:t>
              </a:r>
              <a:endParaRPr lang="en-US" sz="1700" dirty="0"/>
            </a:p>
          </p:txBody>
        </p:sp>
        <p:sp>
          <p:nvSpPr>
            <p:cNvPr id="12" name="Text 10"/>
            <p:cNvSpPr/>
            <p:nvPr/>
          </p:nvSpPr>
          <p:spPr>
            <a:xfrm>
              <a:off x="5852160" y="2221992"/>
              <a:ext cx="5486400" cy="640080"/>
            </a:xfrm>
            <a:prstGeom prst="rect">
              <a:avLst/>
            </a:prstGeom>
            <a:noFill/>
            <a:ln/>
          </p:spPr>
          <p:txBody>
            <a:bodyPr wrap="square" lIns="0" tIns="0" rIns="0" bIns="0" rtlCol="0" anchor="ctr"/>
            <a:lstStyle/>
            <a:p>
              <a:pPr marL="0" indent="0">
                <a:lnSpc>
                  <a:spcPct val="115000"/>
                </a:lnSpc>
                <a:buNone/>
              </a:pPr>
              <a:r>
                <a:rPr lang="en-US" sz="1600" b="1" dirty="0">
                  <a:solidFill>
                    <a:srgbClr val="6B7280"/>
                  </a:solidFill>
                  <a:latin typeface="Calibri"/>
                  <a:ea typeface="Calibri"/>
                  <a:cs typeface="Calibri"/>
                </a:rPr>
                <a:t>Rooms sit empty with no time to resell them.</a:t>
              </a:r>
              <a:endParaRPr lang="en-US" sz="1600" b="1">
                <a:latin typeface="Calibri"/>
                <a:ea typeface="Calibri"/>
                <a:cs typeface="Calibri"/>
              </a:endParaRPr>
            </a:p>
          </p:txBody>
        </p:sp>
        <p:sp>
          <p:nvSpPr>
            <p:cNvPr id="13" name="Shape 11"/>
            <p:cNvSpPr/>
            <p:nvPr/>
          </p:nvSpPr>
          <p:spPr>
            <a:xfrm>
              <a:off x="5074920" y="3172968"/>
              <a:ext cx="566928" cy="566928"/>
            </a:xfrm>
            <a:prstGeom prst="ellipse">
              <a:avLst/>
            </a:prstGeom>
            <a:solidFill>
              <a:srgbClr val="1C7293"/>
            </a:solidFill>
            <a:ln/>
          </p:spPr>
        </p:sp>
        <p:sp>
          <p:nvSpPr>
            <p:cNvPr id="14" name="Text 12"/>
            <p:cNvSpPr/>
            <p:nvPr/>
          </p:nvSpPr>
          <p:spPr>
            <a:xfrm>
              <a:off x="5074920" y="3172968"/>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15" name="Text 13"/>
            <p:cNvSpPr/>
            <p:nvPr/>
          </p:nvSpPr>
          <p:spPr>
            <a:xfrm>
              <a:off x="5852160" y="3154680"/>
              <a:ext cx="5486400" cy="365760"/>
            </a:xfrm>
            <a:prstGeom prst="rect">
              <a:avLst/>
            </a:prstGeom>
            <a:noFill/>
            <a:ln/>
          </p:spPr>
          <p:txBody>
            <a:bodyPr wrap="square" lIns="0" tIns="0" rIns="0" bIns="0" rtlCol="0" anchor="ctr"/>
            <a:lstStyle/>
            <a:p>
              <a:pPr marL="0" indent="0">
                <a:buNone/>
              </a:pPr>
              <a:r>
                <a:rPr lang="en-US" sz="1700" b="1" dirty="0">
                  <a:solidFill>
                    <a:srgbClr val="1A1A2E"/>
                  </a:solidFill>
                  <a:latin typeface="Cambria" pitchFamily="34" charset="0"/>
                  <a:ea typeface="Cambria" pitchFamily="34" charset="-122"/>
                  <a:cs typeface="Cambria" pitchFamily="34" charset="-120"/>
                </a:rPr>
                <a:t>Broken Forecasts</a:t>
              </a:r>
              <a:endParaRPr lang="en-US" sz="1700" dirty="0"/>
            </a:p>
          </p:txBody>
        </p:sp>
        <p:sp>
          <p:nvSpPr>
            <p:cNvPr id="16" name="Text 14"/>
            <p:cNvSpPr/>
            <p:nvPr/>
          </p:nvSpPr>
          <p:spPr>
            <a:xfrm>
              <a:off x="5852160" y="3520440"/>
              <a:ext cx="5486400" cy="640080"/>
            </a:xfrm>
            <a:prstGeom prst="rect">
              <a:avLst/>
            </a:prstGeom>
            <a:noFill/>
            <a:ln/>
          </p:spPr>
          <p:txBody>
            <a:bodyPr wrap="square" lIns="0" tIns="0" rIns="0" bIns="0" rtlCol="0" anchor="ctr"/>
            <a:lstStyle/>
            <a:p>
              <a:pPr marL="0" indent="0">
                <a:lnSpc>
                  <a:spcPct val="115000"/>
                </a:lnSpc>
                <a:buNone/>
              </a:pPr>
              <a:r>
                <a:rPr lang="en-US" sz="1400" b="1" dirty="0">
                  <a:solidFill>
                    <a:srgbClr val="6B7280"/>
                  </a:solidFill>
                  <a:latin typeface="Calibri"/>
                  <a:ea typeface="Calibri"/>
                  <a:cs typeface="Calibri"/>
                </a:rPr>
                <a:t>Occupancy and staffing plans are built on numbers that quietly erode.</a:t>
              </a:r>
              <a:endParaRPr lang="en-US" sz="1400" b="1">
                <a:latin typeface="Calibri"/>
                <a:ea typeface="Calibri"/>
                <a:cs typeface="Calibri"/>
              </a:endParaRPr>
            </a:p>
          </p:txBody>
        </p:sp>
        <p:sp>
          <p:nvSpPr>
            <p:cNvPr id="17" name="Shape 15"/>
            <p:cNvSpPr/>
            <p:nvPr/>
          </p:nvSpPr>
          <p:spPr>
            <a:xfrm>
              <a:off x="5074920" y="4471416"/>
              <a:ext cx="566928" cy="566928"/>
            </a:xfrm>
            <a:prstGeom prst="ellipse">
              <a:avLst/>
            </a:prstGeom>
            <a:solidFill>
              <a:srgbClr val="1E2761"/>
            </a:solidFill>
            <a:ln/>
          </p:spPr>
        </p:sp>
        <p:sp>
          <p:nvSpPr>
            <p:cNvPr id="18" name="Text 16"/>
            <p:cNvSpPr/>
            <p:nvPr/>
          </p:nvSpPr>
          <p:spPr>
            <a:xfrm>
              <a:off x="5074920" y="4471416"/>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19" name="Text 17"/>
            <p:cNvSpPr/>
            <p:nvPr/>
          </p:nvSpPr>
          <p:spPr>
            <a:xfrm>
              <a:off x="5852160" y="4453128"/>
              <a:ext cx="5486400" cy="365760"/>
            </a:xfrm>
            <a:prstGeom prst="rect">
              <a:avLst/>
            </a:prstGeom>
            <a:noFill/>
            <a:ln/>
          </p:spPr>
          <p:txBody>
            <a:bodyPr wrap="square" lIns="0" tIns="0" rIns="0" bIns="0" rtlCol="0" anchor="ctr"/>
            <a:lstStyle/>
            <a:p>
              <a:pPr marL="0" indent="0">
                <a:buNone/>
              </a:pPr>
              <a:r>
                <a:rPr lang="en-US" sz="1700" b="1" dirty="0">
                  <a:solidFill>
                    <a:srgbClr val="1A1A2E"/>
                  </a:solidFill>
                  <a:latin typeface="Cambria" pitchFamily="34" charset="0"/>
                  <a:ea typeface="Cambria" pitchFamily="34" charset="-122"/>
                  <a:cs typeface="Cambria" pitchFamily="34" charset="-120"/>
                </a:rPr>
                <a:t>Reactive Staff</a:t>
              </a:r>
              <a:endParaRPr lang="en-US" sz="1700" dirty="0"/>
            </a:p>
          </p:txBody>
        </p:sp>
        <p:sp>
          <p:nvSpPr>
            <p:cNvPr id="20" name="Text 18"/>
            <p:cNvSpPr/>
            <p:nvPr/>
          </p:nvSpPr>
          <p:spPr>
            <a:xfrm>
              <a:off x="5852160" y="4818888"/>
              <a:ext cx="5486400" cy="640080"/>
            </a:xfrm>
            <a:prstGeom prst="rect">
              <a:avLst/>
            </a:prstGeom>
            <a:noFill/>
            <a:ln/>
          </p:spPr>
          <p:txBody>
            <a:bodyPr wrap="square" lIns="0" tIns="0" rIns="0" bIns="0" rtlCol="0" anchor="ctr"/>
            <a:lstStyle/>
            <a:p>
              <a:pPr marL="0" indent="0">
                <a:lnSpc>
                  <a:spcPct val="115000"/>
                </a:lnSpc>
                <a:buNone/>
              </a:pPr>
              <a:r>
                <a:rPr lang="en-US" sz="1400" b="1" dirty="0">
                  <a:solidFill>
                    <a:srgbClr val="6B7280"/>
                  </a:solidFill>
                  <a:latin typeface="Calibri"/>
                  <a:ea typeface="Calibri"/>
                  <a:cs typeface="Calibri"/>
                </a:rPr>
                <a:t>Teams find out a booking is gone only when the guest is already gone.</a:t>
              </a:r>
              <a:endParaRPr lang="en-US" sz="1400" b="1">
                <a:latin typeface="Calibri"/>
                <a:ea typeface="Calibri"/>
                <a:cs typeface="Calibri"/>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2FA21980-CD42-EFEE-F7B7-C4F7A072963E}"/>
              </a:ext>
            </a:extLst>
          </p:cNvPr>
          <p:cNvGrpSpPr/>
          <p:nvPr/>
        </p:nvGrpSpPr>
        <p:grpSpPr>
          <a:xfrm>
            <a:off x="822960" y="502920"/>
            <a:ext cx="10515600" cy="5349240"/>
            <a:chOff x="822960" y="502920"/>
            <a:chExt cx="10515600" cy="5349240"/>
          </a:xfrm>
        </p:grpSpPr>
        <p:sp>
          <p:nvSpPr>
            <p:cNvPr id="2" name="Text 0"/>
            <p:cNvSpPr/>
            <p:nvPr/>
          </p:nvSpPr>
          <p:spPr>
            <a:xfrm>
              <a:off x="822960" y="502920"/>
              <a:ext cx="7315200" cy="365760"/>
            </a:xfrm>
            <a:prstGeom prst="rect">
              <a:avLst/>
            </a:prstGeom>
            <a:noFill/>
            <a:ln/>
          </p:spPr>
          <p:txBody>
            <a:bodyPr wrap="square" lIns="0" tIns="0" rIns="0" bIns="0" rtlCol="0" anchor="ctr"/>
            <a:lstStyle/>
            <a:p>
              <a:pPr marL="0" indent="0">
                <a:buNone/>
              </a:pPr>
              <a:r>
                <a:rPr lang="en-US" sz="1600" b="1" kern="0" spc="200" dirty="0">
                  <a:solidFill>
                    <a:srgbClr val="1C7293"/>
                  </a:solidFill>
                  <a:latin typeface="Calibri"/>
                  <a:ea typeface="Calibri"/>
                  <a:cs typeface="Calibri"/>
                </a:rPr>
                <a:t>WHAT THE DATA SHOWS</a:t>
              </a:r>
              <a:endParaRPr lang="en-US" sz="1600" b="1">
                <a:latin typeface="Calibri"/>
                <a:ea typeface="Calibri"/>
                <a:cs typeface="Calibri"/>
              </a:endParaRPr>
            </a:p>
          </p:txBody>
        </p:sp>
        <p:sp>
          <p:nvSpPr>
            <p:cNvPr id="3" name="Text 1"/>
            <p:cNvSpPr/>
            <p:nvPr/>
          </p:nvSpPr>
          <p:spPr>
            <a:xfrm>
              <a:off x="822960" y="868680"/>
              <a:ext cx="10058400" cy="640080"/>
            </a:xfrm>
            <a:prstGeom prst="rect">
              <a:avLst/>
            </a:prstGeom>
            <a:noFill/>
            <a:ln/>
          </p:spPr>
          <p:txBody>
            <a:bodyPr wrap="square" lIns="0" tIns="0" rIns="0" bIns="0" rtlCol="0" anchor="ctr"/>
            <a:lstStyle/>
            <a:p>
              <a:pPr marL="0" indent="0">
                <a:buNone/>
              </a:pPr>
              <a:r>
                <a:rPr lang="en-US" sz="2700" b="1" dirty="0">
                  <a:solidFill>
                    <a:srgbClr val="1A1A2E"/>
                  </a:solidFill>
                  <a:latin typeface="Cambria" pitchFamily="34" charset="0"/>
                  <a:ea typeface="Cambria" pitchFamily="34" charset="-122"/>
                  <a:cs typeface="Cambria" pitchFamily="34" charset="-120"/>
                </a:rPr>
                <a:t>Not all bookings carry the same risk.</a:t>
              </a:r>
              <a:endParaRPr lang="en-US" sz="2700" dirty="0"/>
            </a:p>
          </p:txBody>
        </p:sp>
        <p:sp>
          <p:nvSpPr>
            <p:cNvPr id="4" name="Text 2"/>
            <p:cNvSpPr/>
            <p:nvPr/>
          </p:nvSpPr>
          <p:spPr>
            <a:xfrm>
              <a:off x="822960" y="1417320"/>
              <a:ext cx="10058400" cy="365760"/>
            </a:xfrm>
            <a:prstGeom prst="rect">
              <a:avLst/>
            </a:prstGeom>
            <a:noFill/>
            <a:ln/>
          </p:spPr>
          <p:txBody>
            <a:bodyPr wrap="square" lIns="0" tIns="0" rIns="0" bIns="0" rtlCol="0" anchor="ctr"/>
            <a:lstStyle/>
            <a:p>
              <a:pPr marL="0" indent="0">
                <a:buNone/>
              </a:pPr>
              <a:r>
                <a:rPr lang="en-US" sz="1600" b="1" i="1" dirty="0">
                  <a:solidFill>
                    <a:srgbClr val="6B7280"/>
                  </a:solidFill>
                  <a:latin typeface="Calibri"/>
                  <a:ea typeface="Calibri"/>
                  <a:cs typeface="Calibri"/>
                </a:rPr>
                <a:t>Cancellation rate by booking channel</a:t>
              </a:r>
              <a:endParaRPr lang="en-US" sz="1600" b="1">
                <a:latin typeface="Calibri"/>
                <a:ea typeface="Calibri"/>
                <a:cs typeface="Calibri"/>
              </a:endParaRPr>
            </a:p>
          </p:txBody>
        </p:sp>
        <p:graphicFrame>
          <p:nvGraphicFramePr>
            <p:cNvPr id="5" name="Chart 0"/>
            <p:cNvGraphicFramePr/>
            <p:nvPr/>
          </p:nvGraphicFramePr>
          <p:xfrm>
            <a:off x="822960" y="1920240"/>
            <a:ext cx="6675120" cy="393192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7772400" y="1920240"/>
              <a:ext cx="3566160" cy="3931920"/>
            </a:xfrm>
            <a:prstGeom prst="roundRect">
              <a:avLst>
                <a:gd name="adj" fmla="val 2564"/>
              </a:avLst>
            </a:prstGeom>
            <a:solidFill>
              <a:srgbClr val="F7F9FB"/>
            </a:solidFill>
            <a:ln w="12700">
              <a:solidFill>
                <a:srgbClr val="E5E7EB"/>
              </a:solidFill>
              <a:prstDash val="solid"/>
            </a:ln>
          </p:spPr>
        </p:sp>
        <p:sp>
          <p:nvSpPr>
            <p:cNvPr id="7" name="Text 4"/>
            <p:cNvSpPr/>
            <p:nvPr/>
          </p:nvSpPr>
          <p:spPr>
            <a:xfrm>
              <a:off x="8001000" y="2103120"/>
              <a:ext cx="3108960" cy="365760"/>
            </a:xfrm>
            <a:prstGeom prst="rect">
              <a:avLst/>
            </a:prstGeom>
            <a:noFill/>
            <a:ln/>
          </p:spPr>
          <p:txBody>
            <a:bodyPr wrap="square" lIns="0" tIns="0" rIns="0" bIns="0" rtlCol="0" anchor="ctr"/>
            <a:lstStyle/>
            <a:p>
              <a:pPr marL="0" indent="0">
                <a:buNone/>
              </a:pPr>
              <a:r>
                <a:rPr lang="en-US" b="1" dirty="0">
                  <a:solidFill>
                    <a:srgbClr val="1A1A2E"/>
                  </a:solidFill>
                  <a:latin typeface="Cambria"/>
                  <a:ea typeface="Cambria"/>
                  <a:cs typeface="Cambria" pitchFamily="34" charset="-120"/>
                </a:rPr>
                <a:t>What this tells the business</a:t>
              </a:r>
              <a:endParaRPr lang="en-US" b="1">
                <a:latin typeface="Calibri"/>
                <a:ea typeface="Calibri"/>
                <a:cs typeface="Calibri"/>
              </a:endParaRPr>
            </a:p>
          </p:txBody>
        </p:sp>
        <p:sp>
          <p:nvSpPr>
            <p:cNvPr id="8" name="Text 5"/>
            <p:cNvSpPr/>
            <p:nvPr/>
          </p:nvSpPr>
          <p:spPr>
            <a:xfrm>
              <a:off x="8001000" y="2560320"/>
              <a:ext cx="3108960" cy="3017520"/>
            </a:xfrm>
            <a:prstGeom prst="rect">
              <a:avLst/>
            </a:prstGeom>
            <a:noFill/>
            <a:ln/>
          </p:spPr>
          <p:txBody>
            <a:bodyPr wrap="square" lIns="0" tIns="0" rIns="0" bIns="0" rtlCol="0" anchor="ctr"/>
            <a:lstStyle/>
            <a:p>
              <a:pPr marL="0" indent="0">
                <a:lnSpc>
                  <a:spcPct val="130000"/>
                </a:lnSpc>
                <a:buNone/>
              </a:pPr>
              <a:r>
                <a:rPr lang="en-US" b="1" dirty="0">
                  <a:solidFill>
                    <a:srgbClr val="6B7280"/>
                  </a:solidFill>
                  <a:latin typeface="Calibri"/>
                  <a:ea typeface="Calibri"/>
                  <a:cs typeface="Calibri"/>
                </a:rPr>
                <a:t>Online bookings cancel over 3× more often than Corporate bookings. The channel a guest books through is one of the clearest, most actionable risk signals available — and it costs nothing extra to know.</a:t>
              </a:r>
              <a:endParaRPr lang="en-US" b="1">
                <a:latin typeface="Calibri"/>
                <a:ea typeface="Calibri"/>
                <a:cs typeface="Calibri"/>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4D96873E-52B5-8E49-3017-0D7ACFDCBF0F}"/>
              </a:ext>
            </a:extLst>
          </p:cNvPr>
          <p:cNvGrpSpPr/>
          <p:nvPr/>
        </p:nvGrpSpPr>
        <p:grpSpPr>
          <a:xfrm>
            <a:off x="822960" y="502920"/>
            <a:ext cx="10515600" cy="5349240"/>
            <a:chOff x="822960" y="502920"/>
            <a:chExt cx="10515600" cy="5349240"/>
          </a:xfrm>
        </p:grpSpPr>
        <p:sp>
          <p:nvSpPr>
            <p:cNvPr id="2" name="Text 0"/>
            <p:cNvSpPr/>
            <p:nvPr/>
          </p:nvSpPr>
          <p:spPr>
            <a:xfrm>
              <a:off x="822960" y="502920"/>
              <a:ext cx="7315200" cy="365760"/>
            </a:xfrm>
            <a:prstGeom prst="rect">
              <a:avLst/>
            </a:prstGeom>
            <a:noFill/>
            <a:ln/>
          </p:spPr>
          <p:txBody>
            <a:bodyPr wrap="square" lIns="0" tIns="0" rIns="0" bIns="0" rtlCol="0" anchor="ctr"/>
            <a:lstStyle/>
            <a:p>
              <a:pPr marL="0" indent="0">
                <a:buNone/>
              </a:pPr>
              <a:r>
                <a:rPr lang="en-US" sz="1600" b="1" kern="0" spc="200" dirty="0">
                  <a:solidFill>
                    <a:srgbClr val="1C7293"/>
                  </a:solidFill>
                  <a:latin typeface="Calibri"/>
                  <a:ea typeface="Calibri"/>
                  <a:cs typeface="Calibri"/>
                </a:rPr>
                <a:t>WHAT THE DATA SHOWS</a:t>
              </a:r>
              <a:endParaRPr lang="en-US" sz="1600" b="1">
                <a:latin typeface="Calibri"/>
                <a:ea typeface="Calibri"/>
                <a:cs typeface="Calibri"/>
              </a:endParaRPr>
            </a:p>
          </p:txBody>
        </p:sp>
        <p:sp>
          <p:nvSpPr>
            <p:cNvPr id="3" name="Text 1"/>
            <p:cNvSpPr/>
            <p:nvPr/>
          </p:nvSpPr>
          <p:spPr>
            <a:xfrm>
              <a:off x="822960" y="868680"/>
              <a:ext cx="10058400" cy="640080"/>
            </a:xfrm>
            <a:prstGeom prst="rect">
              <a:avLst/>
            </a:prstGeom>
            <a:noFill/>
            <a:ln/>
          </p:spPr>
          <p:txBody>
            <a:bodyPr wrap="square" lIns="0" tIns="0" rIns="0" bIns="0" rtlCol="0" anchor="ctr"/>
            <a:lstStyle/>
            <a:p>
              <a:pPr marL="0" indent="0">
                <a:buNone/>
              </a:pPr>
              <a:r>
                <a:rPr lang="en-US" sz="2700" b="1" dirty="0">
                  <a:solidFill>
                    <a:srgbClr val="1A1A2E"/>
                  </a:solidFill>
                  <a:latin typeface="Cambria" pitchFamily="34" charset="0"/>
                  <a:ea typeface="Cambria" pitchFamily="34" charset="-122"/>
                  <a:cs typeface="Cambria" pitchFamily="34" charset="-120"/>
                </a:rPr>
                <a:t>Five factors explain most of the risk.</a:t>
              </a:r>
              <a:endParaRPr lang="en-US" sz="2700" dirty="0"/>
            </a:p>
          </p:txBody>
        </p:sp>
        <p:sp>
          <p:nvSpPr>
            <p:cNvPr id="4" name="Text 2"/>
            <p:cNvSpPr/>
            <p:nvPr/>
          </p:nvSpPr>
          <p:spPr>
            <a:xfrm>
              <a:off x="822960" y="1417320"/>
              <a:ext cx="10058400" cy="365760"/>
            </a:xfrm>
            <a:prstGeom prst="rect">
              <a:avLst/>
            </a:prstGeom>
            <a:noFill/>
            <a:ln/>
          </p:spPr>
          <p:txBody>
            <a:bodyPr wrap="square" lIns="0" tIns="0" rIns="0" bIns="0" rtlCol="0" anchor="ctr"/>
            <a:lstStyle/>
            <a:p>
              <a:pPr marL="0" indent="0">
                <a:buNone/>
              </a:pPr>
              <a:r>
                <a:rPr lang="en-US" sz="1600" b="1" i="1" dirty="0">
                  <a:solidFill>
                    <a:srgbClr val="6B7280"/>
                  </a:solidFill>
                  <a:latin typeface="Calibri"/>
                  <a:ea typeface="Calibri"/>
                  <a:cs typeface="Calibri"/>
                </a:rPr>
                <a:t>Share of the system's decision-making, by factor</a:t>
              </a:r>
              <a:endParaRPr lang="en-US" sz="1600" b="1">
                <a:latin typeface="Calibri"/>
                <a:ea typeface="Calibri"/>
                <a:cs typeface="Calibri"/>
              </a:endParaRPr>
            </a:p>
          </p:txBody>
        </p:sp>
        <p:graphicFrame>
          <p:nvGraphicFramePr>
            <p:cNvPr id="5" name="Chart 0"/>
            <p:cNvGraphicFramePr/>
            <p:nvPr/>
          </p:nvGraphicFramePr>
          <p:xfrm>
            <a:off x="822960" y="1920240"/>
            <a:ext cx="6675120" cy="393192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7772400" y="1920240"/>
              <a:ext cx="3566160" cy="3931920"/>
            </a:xfrm>
            <a:prstGeom prst="roundRect">
              <a:avLst>
                <a:gd name="adj" fmla="val 2564"/>
              </a:avLst>
            </a:prstGeom>
            <a:solidFill>
              <a:srgbClr val="F7F9FB"/>
            </a:solidFill>
            <a:ln w="12700">
              <a:solidFill>
                <a:srgbClr val="E5E7EB"/>
              </a:solidFill>
              <a:prstDash val="solid"/>
            </a:ln>
          </p:spPr>
        </p:sp>
        <p:sp>
          <p:nvSpPr>
            <p:cNvPr id="7" name="Text 4"/>
            <p:cNvSpPr/>
            <p:nvPr/>
          </p:nvSpPr>
          <p:spPr>
            <a:xfrm>
              <a:off x="8001000" y="2103120"/>
              <a:ext cx="3108960" cy="365760"/>
            </a:xfrm>
            <a:prstGeom prst="rect">
              <a:avLst/>
            </a:prstGeom>
            <a:noFill/>
            <a:ln/>
          </p:spPr>
          <p:txBody>
            <a:bodyPr wrap="square" lIns="0" tIns="0" rIns="0" bIns="0" rtlCol="0" anchor="ctr"/>
            <a:lstStyle/>
            <a:p>
              <a:pPr marL="0" indent="0">
                <a:buNone/>
              </a:pPr>
              <a:r>
                <a:rPr lang="en-US" sz="2000" dirty="0">
                  <a:solidFill>
                    <a:srgbClr val="1A1A2E"/>
                  </a:solidFill>
                  <a:latin typeface="Cambria"/>
                  <a:ea typeface="Cambria"/>
                  <a:cs typeface="Cambria" pitchFamily="34" charset="-120"/>
                </a:rPr>
                <a:t>What this tells the business</a:t>
              </a:r>
              <a:endParaRPr lang="en-US" sz="2000">
                <a:latin typeface="Calibri"/>
                <a:ea typeface="Calibri"/>
                <a:cs typeface="Calibri"/>
              </a:endParaRPr>
            </a:p>
          </p:txBody>
        </p:sp>
        <p:sp>
          <p:nvSpPr>
            <p:cNvPr id="8" name="Text 5"/>
            <p:cNvSpPr/>
            <p:nvPr/>
          </p:nvSpPr>
          <p:spPr>
            <a:xfrm>
              <a:off x="8001000" y="2560320"/>
              <a:ext cx="3108960" cy="3017520"/>
            </a:xfrm>
            <a:prstGeom prst="rect">
              <a:avLst/>
            </a:prstGeom>
            <a:noFill/>
            <a:ln/>
          </p:spPr>
          <p:txBody>
            <a:bodyPr wrap="square" lIns="0" tIns="0" rIns="0" bIns="0" rtlCol="0" anchor="ctr"/>
            <a:lstStyle/>
            <a:p>
              <a:pPr marL="0" indent="0">
                <a:lnSpc>
                  <a:spcPct val="130000"/>
                </a:lnSpc>
                <a:buNone/>
              </a:pPr>
              <a:r>
                <a:rPr lang="en-US" sz="2000" b="1" dirty="0">
                  <a:solidFill>
                    <a:srgbClr val="6B7280"/>
                  </a:solidFill>
                  <a:latin typeface="Calibri"/>
                  <a:ea typeface="Calibri"/>
                  <a:cs typeface="Calibri"/>
                </a:rPr>
                <a:t>How far in advance a booking was made is, by far, the single biggest driver of cancellation risk — twice as influential as room price. Long-lead bookings deserve the closest attention.</a:t>
              </a:r>
              <a:endParaRPr lang="en-US" sz="2000" b="1">
                <a:latin typeface="Calibri"/>
                <a:ea typeface="Calibri"/>
                <a:cs typeface="Calibri"/>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72A"/>
        </a:solidFill>
        <a:effectLst/>
      </p:bgPr>
    </p:bg>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B832333F-852C-11AC-0BD6-DDEE2E9EE90D}"/>
              </a:ext>
            </a:extLst>
          </p:cNvPr>
          <p:cNvGrpSpPr/>
          <p:nvPr/>
        </p:nvGrpSpPr>
        <p:grpSpPr>
          <a:xfrm>
            <a:off x="822960" y="502920"/>
            <a:ext cx="10515600" cy="5943600"/>
            <a:chOff x="822960" y="502920"/>
            <a:chExt cx="10515600" cy="5943600"/>
          </a:xfrm>
        </p:grpSpPr>
        <p:sp>
          <p:nvSpPr>
            <p:cNvPr id="2" name="Text 0"/>
            <p:cNvSpPr/>
            <p:nvPr/>
          </p:nvSpPr>
          <p:spPr>
            <a:xfrm>
              <a:off x="822960" y="502920"/>
              <a:ext cx="7315200" cy="365760"/>
            </a:xfrm>
            <a:prstGeom prst="rect">
              <a:avLst/>
            </a:prstGeom>
            <a:noFill/>
            <a:ln/>
          </p:spPr>
          <p:txBody>
            <a:bodyPr wrap="square" lIns="0" tIns="0" rIns="0" bIns="0" rtlCol="0" anchor="ctr"/>
            <a:lstStyle/>
            <a:p>
              <a:pPr marL="0" indent="0">
                <a:buNone/>
              </a:pPr>
              <a:r>
                <a:rPr lang="en-US" sz="2000" b="1" kern="0" spc="200" dirty="0">
                  <a:solidFill>
                    <a:srgbClr val="1C7293"/>
                  </a:solidFill>
                  <a:latin typeface="Calibri"/>
                  <a:ea typeface="Calibri"/>
                  <a:cs typeface="Calibri"/>
                </a:rPr>
                <a:t>SEEING IT IN ACTION</a:t>
              </a:r>
              <a:endParaRPr lang="en-US" sz="2000">
                <a:latin typeface="Calibri"/>
                <a:ea typeface="Calibri"/>
                <a:cs typeface="Calibri"/>
              </a:endParaRPr>
            </a:p>
          </p:txBody>
        </p:sp>
        <p:sp>
          <p:nvSpPr>
            <p:cNvPr id="3" name="Text 1"/>
            <p:cNvSpPr/>
            <p:nvPr/>
          </p:nvSpPr>
          <p:spPr>
            <a:xfrm>
              <a:off x="822960" y="868680"/>
              <a:ext cx="10241280" cy="640080"/>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Two real bookings. Two very different risk levels.</a:t>
              </a:r>
              <a:endParaRPr lang="en-US" sz="2600" dirty="0"/>
            </a:p>
          </p:txBody>
        </p:sp>
        <p:graphicFrame>
          <p:nvGraphicFramePr>
            <p:cNvPr id="4" name="Chart 0"/>
            <p:cNvGraphicFramePr/>
            <p:nvPr/>
          </p:nvGraphicFramePr>
          <p:xfrm>
            <a:off x="1188720" y="1920240"/>
            <a:ext cx="9601200" cy="393192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p:nvPr/>
          </p:nvSpPr>
          <p:spPr>
            <a:xfrm>
              <a:off x="822960" y="5989320"/>
              <a:ext cx="10515600" cy="457200"/>
            </a:xfrm>
            <a:prstGeom prst="rect">
              <a:avLst/>
            </a:prstGeom>
            <a:noFill/>
            <a:ln/>
          </p:spPr>
          <p:txBody>
            <a:bodyPr wrap="square" lIns="0" tIns="0" rIns="0" bIns="0" rtlCol="0" anchor="ctr"/>
            <a:lstStyle/>
            <a:p>
              <a:pPr marL="0" indent="0" algn="ctr">
                <a:buNone/>
              </a:pPr>
              <a:r>
                <a:rPr lang="en-US" sz="1600" b="1" i="1" dirty="0">
                  <a:solidFill>
                    <a:srgbClr val="CADCFC"/>
                  </a:solidFill>
                  <a:latin typeface="Calibri"/>
                  <a:ea typeface="Calibri"/>
                  <a:cs typeface="Calibri"/>
                </a:rPr>
                <a:t>Same predictive system, two real booking profiles — the risk score moves from near-certain to keep, to near-certain to cancel.</a:t>
              </a:r>
              <a:endParaRPr lang="en-US" sz="1600" b="1">
                <a:latin typeface="Calibri"/>
                <a:ea typeface="Calibri"/>
                <a:cs typeface="Calibri"/>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B"/>
        </a:solidFill>
        <a:effectLst/>
      </p:bgPr>
    </p:bg>
    <p:spTree>
      <p:nvGrpSpPr>
        <p:cNvPr id="1" name=""/>
        <p:cNvGrpSpPr/>
        <p:nvPr/>
      </p:nvGrpSpPr>
      <p:grpSpPr>
        <a:xfrm>
          <a:off x="0" y="0"/>
          <a:ext cx="0" cy="0"/>
          <a:chOff x="0" y="0"/>
          <a:chExt cx="0" cy="0"/>
        </a:xfrm>
      </p:grpSpPr>
      <p:grpSp>
        <p:nvGrpSpPr>
          <p:cNvPr id="31" name="Group 30">
            <a:extLst>
              <a:ext uri="{FF2B5EF4-FFF2-40B4-BE49-F238E27FC236}">
                <a16:creationId xmlns:a16="http://schemas.microsoft.com/office/drawing/2014/main" id="{B0D4C227-2C9D-70F7-4A91-EC0376513FB9}"/>
              </a:ext>
            </a:extLst>
          </p:cNvPr>
          <p:cNvGrpSpPr/>
          <p:nvPr/>
        </p:nvGrpSpPr>
        <p:grpSpPr>
          <a:xfrm>
            <a:off x="822960" y="706120"/>
            <a:ext cx="10607040" cy="4597400"/>
            <a:chOff x="822960" y="706120"/>
            <a:chExt cx="10607040" cy="4597400"/>
          </a:xfrm>
        </p:grpSpPr>
        <p:sp>
          <p:nvSpPr>
            <p:cNvPr id="2" name="Text 0"/>
            <p:cNvSpPr/>
            <p:nvPr/>
          </p:nvSpPr>
          <p:spPr>
            <a:xfrm>
              <a:off x="822960" y="706120"/>
              <a:ext cx="7315200" cy="365760"/>
            </a:xfrm>
            <a:prstGeom prst="rect">
              <a:avLst/>
            </a:prstGeom>
            <a:noFill/>
            <a:ln/>
          </p:spPr>
          <p:txBody>
            <a:bodyPr wrap="square" lIns="0" tIns="0" rIns="0" bIns="0" rtlCol="0" anchor="ctr"/>
            <a:lstStyle/>
            <a:p>
              <a:pPr marL="0" indent="0">
                <a:buNone/>
              </a:pPr>
              <a:r>
                <a:rPr lang="en-US" sz="2000" b="1" kern="0" spc="200" dirty="0">
                  <a:solidFill>
                    <a:srgbClr val="1C7293"/>
                  </a:solidFill>
                  <a:latin typeface="Calibri"/>
                  <a:ea typeface="Calibri"/>
                  <a:cs typeface="Calibri"/>
                </a:rPr>
                <a:t>OUR APPROACH</a:t>
              </a:r>
              <a:endParaRPr lang="en-US" sz="2000">
                <a:latin typeface="Calibri"/>
                <a:ea typeface="Calibri"/>
                <a:cs typeface="Calibri"/>
              </a:endParaRPr>
            </a:p>
          </p:txBody>
        </p:sp>
        <p:sp>
          <p:nvSpPr>
            <p:cNvPr id="3" name="Text 1"/>
            <p:cNvSpPr/>
            <p:nvPr/>
          </p:nvSpPr>
          <p:spPr>
            <a:xfrm>
              <a:off x="822960" y="1071880"/>
              <a:ext cx="10515600" cy="731520"/>
            </a:xfrm>
            <a:prstGeom prst="rect">
              <a:avLst/>
            </a:prstGeom>
            <a:noFill/>
            <a:ln/>
          </p:spPr>
          <p:txBody>
            <a:bodyPr wrap="square" lIns="0" tIns="0" rIns="0" bIns="0" rtlCol="0" anchor="ctr"/>
            <a:lstStyle/>
            <a:p>
              <a:pPr marL="0" indent="0">
                <a:buNone/>
              </a:pPr>
              <a:r>
                <a:rPr lang="en-US" sz="2600" b="1" dirty="0">
                  <a:solidFill>
                    <a:srgbClr val="1A1A2E"/>
                  </a:solidFill>
                  <a:latin typeface="Cambria" pitchFamily="34" charset="0"/>
                  <a:ea typeface="Cambria" pitchFamily="34" charset="-122"/>
                  <a:cs typeface="Cambria" pitchFamily="34" charset="-120"/>
                </a:rPr>
                <a:t>Built the way good forecasting should be: tested, not assumed.</a:t>
              </a:r>
              <a:endParaRPr lang="en-US" sz="2600" dirty="0"/>
            </a:p>
          </p:txBody>
        </p:sp>
        <p:sp>
          <p:nvSpPr>
            <p:cNvPr id="4" name="Shape 2"/>
            <p:cNvSpPr/>
            <p:nvPr/>
          </p:nvSpPr>
          <p:spPr>
            <a:xfrm>
              <a:off x="822960" y="2286000"/>
              <a:ext cx="2487168" cy="3017520"/>
            </a:xfrm>
            <a:prstGeom prst="roundRect">
              <a:avLst>
                <a:gd name="adj" fmla="val 3676"/>
              </a:avLst>
            </a:prstGeom>
            <a:solidFill>
              <a:srgbClr val="FFFFFF"/>
            </a:solidFill>
            <a:ln w="12700">
              <a:solidFill>
                <a:srgbClr val="E5E7EB"/>
              </a:solidFill>
              <a:prstDash val="solid"/>
            </a:ln>
            <a:effectLst>
              <a:outerShdw blurRad="76200" dist="25400" dir="5400000" algn="bl" rotWithShape="0">
                <a:srgbClr val="000000">
                  <a:alpha val="8000"/>
                </a:srgbClr>
              </a:outerShdw>
            </a:effectLst>
          </p:spPr>
        </p:sp>
        <p:sp>
          <p:nvSpPr>
            <p:cNvPr id="5" name="Shape 3"/>
            <p:cNvSpPr/>
            <p:nvPr/>
          </p:nvSpPr>
          <p:spPr>
            <a:xfrm>
              <a:off x="1746504" y="2606040"/>
              <a:ext cx="640080" cy="640080"/>
            </a:xfrm>
            <a:prstGeom prst="ellipse">
              <a:avLst/>
            </a:prstGeom>
            <a:solidFill>
              <a:srgbClr val="0F172A"/>
            </a:solidFill>
            <a:ln/>
          </p:spPr>
        </p:sp>
        <p:sp>
          <p:nvSpPr>
            <p:cNvPr id="6" name="Text 4"/>
            <p:cNvSpPr/>
            <p:nvPr/>
          </p:nvSpPr>
          <p:spPr>
            <a:xfrm>
              <a:off x="1746504" y="2606040"/>
              <a:ext cx="640080" cy="640080"/>
            </a:xfrm>
            <a:prstGeom prst="rect">
              <a:avLst/>
            </a:prstGeom>
            <a:noFill/>
            <a:ln/>
          </p:spPr>
          <p:txBody>
            <a:bodyPr wrap="square" lIns="0" tIns="0" rIns="0" bIns="0"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a:t>
              </a:r>
              <a:endParaRPr lang="en-US" sz="2600" dirty="0"/>
            </a:p>
          </p:txBody>
        </p:sp>
        <p:sp>
          <p:nvSpPr>
            <p:cNvPr id="7" name="Text 5"/>
            <p:cNvSpPr/>
            <p:nvPr/>
          </p:nvSpPr>
          <p:spPr>
            <a:xfrm>
              <a:off x="2807208" y="2395728"/>
              <a:ext cx="411480" cy="411480"/>
            </a:xfrm>
            <a:prstGeom prst="rect">
              <a:avLst/>
            </a:prstGeom>
            <a:noFill/>
            <a:ln/>
          </p:spPr>
          <p:txBody>
            <a:bodyPr wrap="square" lIns="0" tIns="0" rIns="0" bIns="0" rtlCol="0" anchor="ctr"/>
            <a:lstStyle/>
            <a:p>
              <a:pPr marL="0" indent="0" algn="ctr">
                <a:buNone/>
              </a:pPr>
              <a:r>
                <a:rPr lang="en-US" sz="1500" b="1" dirty="0">
                  <a:solidFill>
                    <a:srgbClr val="6B7280"/>
                  </a:solidFill>
                  <a:latin typeface="Cambria" pitchFamily="34" charset="0"/>
                  <a:ea typeface="Cambria" pitchFamily="34" charset="-122"/>
                  <a:cs typeface="Cambria" pitchFamily="34" charset="-120"/>
                </a:rPr>
                <a:t>1</a:t>
              </a:r>
              <a:endParaRPr lang="en-US" sz="1500" dirty="0"/>
            </a:p>
          </p:txBody>
        </p:sp>
        <p:sp>
          <p:nvSpPr>
            <p:cNvPr id="8" name="Text 6"/>
            <p:cNvSpPr/>
            <p:nvPr/>
          </p:nvSpPr>
          <p:spPr>
            <a:xfrm>
              <a:off x="1005840" y="3429000"/>
              <a:ext cx="2121408" cy="640080"/>
            </a:xfrm>
            <a:prstGeom prst="rect">
              <a:avLst/>
            </a:prstGeom>
            <a:noFill/>
            <a:ln/>
          </p:spPr>
          <p:txBody>
            <a:bodyPr wrap="square" lIns="0" tIns="0" rIns="0" bIns="0" rtlCol="0" anchor="ctr"/>
            <a:lstStyle/>
            <a:p>
              <a:pPr marL="0" indent="0" algn="ctr">
                <a:lnSpc>
                  <a:spcPct val="110000"/>
                </a:lnSpc>
                <a:buNone/>
              </a:pPr>
              <a:r>
                <a:rPr lang="en-US" sz="1500" b="1" dirty="0">
                  <a:solidFill>
                    <a:srgbClr val="1A1A2E"/>
                  </a:solidFill>
                  <a:latin typeface="Cambria" pitchFamily="34" charset="0"/>
                  <a:ea typeface="Cambria" pitchFamily="34" charset="-122"/>
                  <a:cs typeface="Cambria" pitchFamily="34" charset="-120"/>
                </a:rPr>
                <a:t>Learn from real history</a:t>
              </a:r>
              <a:endParaRPr lang="en-US" sz="1500" dirty="0"/>
            </a:p>
          </p:txBody>
        </p:sp>
        <p:sp>
          <p:nvSpPr>
            <p:cNvPr id="9" name="Text 7"/>
            <p:cNvSpPr/>
            <p:nvPr/>
          </p:nvSpPr>
          <p:spPr>
            <a:xfrm>
              <a:off x="1005840" y="4069080"/>
              <a:ext cx="2121408" cy="1097280"/>
            </a:xfrm>
            <a:prstGeom prst="rect">
              <a:avLst/>
            </a:prstGeom>
            <a:noFill/>
            <a:ln/>
          </p:spPr>
          <p:txBody>
            <a:bodyPr wrap="square" lIns="0" tIns="0" rIns="0" bIns="0" rtlCol="0" anchor="ctr"/>
            <a:lstStyle/>
            <a:p>
              <a:pPr marL="0" indent="0" algn="ctr">
                <a:lnSpc>
                  <a:spcPct val="120000"/>
                </a:lnSpc>
                <a:buNone/>
              </a:pPr>
              <a:r>
                <a:rPr lang="en-US" sz="1400" b="1" dirty="0">
                  <a:solidFill>
                    <a:srgbClr val="6B7280"/>
                  </a:solidFill>
                  <a:latin typeface="Calibri"/>
                  <a:ea typeface="Calibri"/>
                  <a:cs typeface="Calibri"/>
                </a:rPr>
                <a:t>36,275 real hotel bookings — guest details, pricing, timing, and outcomes.</a:t>
              </a:r>
              <a:endParaRPr lang="en-US" sz="1400" b="1">
                <a:latin typeface="Calibri"/>
                <a:ea typeface="Calibri"/>
                <a:cs typeface="Calibri"/>
              </a:endParaRPr>
            </a:p>
          </p:txBody>
        </p:sp>
        <p:sp>
          <p:nvSpPr>
            <p:cNvPr id="10" name="Text 8"/>
            <p:cNvSpPr/>
            <p:nvPr/>
          </p:nvSpPr>
          <p:spPr>
            <a:xfrm>
              <a:off x="3291840" y="3520440"/>
              <a:ext cx="256032" cy="457200"/>
            </a:xfrm>
            <a:prstGeom prst="rect">
              <a:avLst/>
            </a:prstGeom>
            <a:noFill/>
            <a:ln/>
          </p:spPr>
          <p:txBody>
            <a:bodyPr wrap="square" lIns="0" tIns="0" rIns="0" bIns="0" rtlCol="0" anchor="ctr"/>
            <a:lstStyle/>
            <a:p>
              <a:pPr marL="0" indent="0" algn="ctr">
                <a:buNone/>
              </a:pPr>
              <a:r>
                <a:rPr lang="en-US" sz="2000" b="1" dirty="0">
                  <a:solidFill>
                    <a:srgbClr val="1C7293"/>
                  </a:solidFill>
                  <a:latin typeface="Calibri" pitchFamily="34" charset="0"/>
                  <a:ea typeface="Calibri" pitchFamily="34" charset="-122"/>
                  <a:cs typeface="Calibri" pitchFamily="34" charset="-120"/>
                </a:rPr>
                <a:t>→</a:t>
              </a:r>
              <a:endParaRPr lang="en-US" sz="2000" dirty="0"/>
            </a:p>
          </p:txBody>
        </p:sp>
        <p:sp>
          <p:nvSpPr>
            <p:cNvPr id="11" name="Shape 9"/>
            <p:cNvSpPr/>
            <p:nvPr/>
          </p:nvSpPr>
          <p:spPr>
            <a:xfrm>
              <a:off x="3529584" y="2286000"/>
              <a:ext cx="2487168" cy="3017520"/>
            </a:xfrm>
            <a:prstGeom prst="roundRect">
              <a:avLst>
                <a:gd name="adj" fmla="val 3676"/>
              </a:avLst>
            </a:prstGeom>
            <a:solidFill>
              <a:srgbClr val="FFFFFF"/>
            </a:solidFill>
            <a:ln w="12700">
              <a:solidFill>
                <a:srgbClr val="E5E7EB"/>
              </a:solidFill>
              <a:prstDash val="solid"/>
            </a:ln>
            <a:effectLst>
              <a:outerShdw blurRad="76200" dist="25400" dir="5400000" algn="bl" rotWithShape="0">
                <a:srgbClr val="000000">
                  <a:alpha val="8000"/>
                </a:srgbClr>
              </a:outerShdw>
            </a:effectLst>
          </p:spPr>
        </p:sp>
        <p:sp>
          <p:nvSpPr>
            <p:cNvPr id="12" name="Shape 10"/>
            <p:cNvSpPr/>
            <p:nvPr/>
          </p:nvSpPr>
          <p:spPr>
            <a:xfrm>
              <a:off x="4453128" y="2606040"/>
              <a:ext cx="640080" cy="640080"/>
            </a:xfrm>
            <a:prstGeom prst="ellipse">
              <a:avLst/>
            </a:prstGeom>
            <a:solidFill>
              <a:srgbClr val="1C7293"/>
            </a:solidFill>
            <a:ln/>
          </p:spPr>
        </p:sp>
        <p:sp>
          <p:nvSpPr>
            <p:cNvPr id="13" name="Text 11"/>
            <p:cNvSpPr/>
            <p:nvPr/>
          </p:nvSpPr>
          <p:spPr>
            <a:xfrm>
              <a:off x="4453128" y="2606040"/>
              <a:ext cx="640080" cy="640080"/>
            </a:xfrm>
            <a:prstGeom prst="rect">
              <a:avLst/>
            </a:prstGeom>
            <a:noFill/>
            <a:ln/>
          </p:spPr>
          <p:txBody>
            <a:bodyPr wrap="square" lIns="0" tIns="0" rIns="0" bIns="0"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a:t>
              </a:r>
              <a:endParaRPr lang="en-US" sz="2600" dirty="0"/>
            </a:p>
          </p:txBody>
        </p:sp>
        <p:sp>
          <p:nvSpPr>
            <p:cNvPr id="14" name="Text 12"/>
            <p:cNvSpPr/>
            <p:nvPr/>
          </p:nvSpPr>
          <p:spPr>
            <a:xfrm>
              <a:off x="5513832" y="2395728"/>
              <a:ext cx="411480" cy="411480"/>
            </a:xfrm>
            <a:prstGeom prst="rect">
              <a:avLst/>
            </a:prstGeom>
            <a:noFill/>
            <a:ln/>
          </p:spPr>
          <p:txBody>
            <a:bodyPr wrap="square" lIns="0" tIns="0" rIns="0" bIns="0" rtlCol="0" anchor="ctr"/>
            <a:lstStyle/>
            <a:p>
              <a:pPr marL="0" indent="0" algn="ctr">
                <a:buNone/>
              </a:pPr>
              <a:r>
                <a:rPr lang="en-US" sz="1500" b="1" dirty="0">
                  <a:solidFill>
                    <a:srgbClr val="6B7280"/>
                  </a:solidFill>
                  <a:latin typeface="Cambria" pitchFamily="34" charset="0"/>
                  <a:ea typeface="Cambria" pitchFamily="34" charset="-122"/>
                  <a:cs typeface="Cambria" pitchFamily="34" charset="-120"/>
                </a:rPr>
                <a:t>2</a:t>
              </a:r>
              <a:endParaRPr lang="en-US" sz="1500" dirty="0"/>
            </a:p>
          </p:txBody>
        </p:sp>
        <p:sp>
          <p:nvSpPr>
            <p:cNvPr id="15" name="Text 13"/>
            <p:cNvSpPr/>
            <p:nvPr/>
          </p:nvSpPr>
          <p:spPr>
            <a:xfrm>
              <a:off x="3712464" y="3429000"/>
              <a:ext cx="2121408" cy="640080"/>
            </a:xfrm>
            <a:prstGeom prst="rect">
              <a:avLst/>
            </a:prstGeom>
            <a:noFill/>
            <a:ln/>
          </p:spPr>
          <p:txBody>
            <a:bodyPr wrap="square" lIns="0" tIns="0" rIns="0" bIns="0" rtlCol="0" anchor="ctr"/>
            <a:lstStyle/>
            <a:p>
              <a:pPr marL="0" indent="0" algn="ctr">
                <a:lnSpc>
                  <a:spcPct val="110000"/>
                </a:lnSpc>
                <a:buNone/>
              </a:pPr>
              <a:r>
                <a:rPr lang="en-US" sz="1500" b="1" dirty="0">
                  <a:solidFill>
                    <a:srgbClr val="1A1A2E"/>
                  </a:solidFill>
                  <a:latin typeface="Cambria" pitchFamily="34" charset="0"/>
                  <a:ea typeface="Cambria" pitchFamily="34" charset="-122"/>
                  <a:cs typeface="Cambria" pitchFamily="34" charset="-120"/>
                </a:rPr>
                <a:t>Compare several methods</a:t>
              </a:r>
              <a:endParaRPr lang="en-US" sz="1500" dirty="0"/>
            </a:p>
          </p:txBody>
        </p:sp>
        <p:sp>
          <p:nvSpPr>
            <p:cNvPr id="16" name="Text 14"/>
            <p:cNvSpPr/>
            <p:nvPr/>
          </p:nvSpPr>
          <p:spPr>
            <a:xfrm>
              <a:off x="3712464" y="4069080"/>
              <a:ext cx="2121408" cy="1097280"/>
            </a:xfrm>
            <a:prstGeom prst="rect">
              <a:avLst/>
            </a:prstGeom>
            <a:noFill/>
            <a:ln/>
          </p:spPr>
          <p:txBody>
            <a:bodyPr wrap="square" lIns="0" tIns="0" rIns="0" bIns="0" rtlCol="0" anchor="ctr"/>
            <a:lstStyle/>
            <a:p>
              <a:pPr marL="0" indent="0" algn="ctr">
                <a:lnSpc>
                  <a:spcPct val="120000"/>
                </a:lnSpc>
                <a:buNone/>
              </a:pPr>
              <a:r>
                <a:rPr lang="en-US" sz="1400" b="1" dirty="0">
                  <a:solidFill>
                    <a:srgbClr val="6B7280"/>
                  </a:solidFill>
                  <a:latin typeface="Calibri"/>
                  <a:ea typeface="Calibri"/>
                  <a:cs typeface="Calibri"/>
                </a:rPr>
                <a:t>Several predictive techniques competed on the same data — no </a:t>
              </a:r>
              <a:r>
                <a:rPr lang="en-US" sz="1400" b="1" dirty="0" err="1">
                  <a:solidFill>
                    <a:srgbClr val="6B7280"/>
                  </a:solidFill>
                  <a:latin typeface="Calibri"/>
                  <a:ea typeface="Calibri"/>
                  <a:cs typeface="Calibri"/>
                </a:rPr>
                <a:t>favourites</a:t>
              </a:r>
              <a:r>
                <a:rPr lang="en-US" sz="1400" b="1" dirty="0">
                  <a:solidFill>
                    <a:srgbClr val="6B7280"/>
                  </a:solidFill>
                  <a:latin typeface="Calibri"/>
                  <a:ea typeface="Calibri"/>
                  <a:cs typeface="Calibri"/>
                </a:rPr>
                <a:t> picked in advance.</a:t>
              </a:r>
              <a:endParaRPr lang="en-US" sz="1400" b="1">
                <a:latin typeface="Calibri"/>
                <a:ea typeface="Calibri"/>
                <a:cs typeface="Calibri"/>
              </a:endParaRPr>
            </a:p>
          </p:txBody>
        </p:sp>
        <p:sp>
          <p:nvSpPr>
            <p:cNvPr id="17" name="Text 15"/>
            <p:cNvSpPr/>
            <p:nvPr/>
          </p:nvSpPr>
          <p:spPr>
            <a:xfrm>
              <a:off x="5998464" y="3520440"/>
              <a:ext cx="256032" cy="457200"/>
            </a:xfrm>
            <a:prstGeom prst="rect">
              <a:avLst/>
            </a:prstGeom>
            <a:noFill/>
            <a:ln/>
          </p:spPr>
          <p:txBody>
            <a:bodyPr wrap="square" lIns="0" tIns="0" rIns="0" bIns="0" rtlCol="0" anchor="ctr"/>
            <a:lstStyle/>
            <a:p>
              <a:pPr marL="0" indent="0" algn="ctr">
                <a:buNone/>
              </a:pPr>
              <a:r>
                <a:rPr lang="en-US" sz="2000" b="1" dirty="0">
                  <a:solidFill>
                    <a:srgbClr val="1C7293"/>
                  </a:solidFill>
                  <a:latin typeface="Calibri" pitchFamily="34" charset="0"/>
                  <a:ea typeface="Calibri" pitchFamily="34" charset="-122"/>
                  <a:cs typeface="Calibri" pitchFamily="34" charset="-120"/>
                </a:rPr>
                <a:t>→</a:t>
              </a:r>
              <a:endParaRPr lang="en-US" sz="2000" dirty="0"/>
            </a:p>
          </p:txBody>
        </p:sp>
        <p:sp>
          <p:nvSpPr>
            <p:cNvPr id="18" name="Shape 16"/>
            <p:cNvSpPr/>
            <p:nvPr/>
          </p:nvSpPr>
          <p:spPr>
            <a:xfrm>
              <a:off x="6236208" y="2286000"/>
              <a:ext cx="2487168" cy="3017520"/>
            </a:xfrm>
            <a:prstGeom prst="roundRect">
              <a:avLst>
                <a:gd name="adj" fmla="val 3676"/>
              </a:avLst>
            </a:prstGeom>
            <a:solidFill>
              <a:srgbClr val="FFFFFF"/>
            </a:solidFill>
            <a:ln w="12700">
              <a:solidFill>
                <a:srgbClr val="E5E7EB"/>
              </a:solidFill>
              <a:prstDash val="solid"/>
            </a:ln>
            <a:effectLst>
              <a:outerShdw blurRad="76200" dist="25400" dir="5400000" algn="bl" rotWithShape="0">
                <a:srgbClr val="000000">
                  <a:alpha val="8000"/>
                </a:srgbClr>
              </a:outerShdw>
            </a:effectLst>
          </p:spPr>
        </p:sp>
        <p:sp>
          <p:nvSpPr>
            <p:cNvPr id="19" name="Shape 17"/>
            <p:cNvSpPr/>
            <p:nvPr/>
          </p:nvSpPr>
          <p:spPr>
            <a:xfrm>
              <a:off x="7159752" y="2606040"/>
              <a:ext cx="640080" cy="640080"/>
            </a:xfrm>
            <a:prstGeom prst="ellipse">
              <a:avLst/>
            </a:prstGeom>
            <a:solidFill>
              <a:srgbClr val="0F172A"/>
            </a:solidFill>
            <a:ln/>
          </p:spPr>
        </p:sp>
        <p:sp>
          <p:nvSpPr>
            <p:cNvPr id="20" name="Text 18"/>
            <p:cNvSpPr/>
            <p:nvPr/>
          </p:nvSpPr>
          <p:spPr>
            <a:xfrm>
              <a:off x="7159752" y="2606040"/>
              <a:ext cx="640080" cy="640080"/>
            </a:xfrm>
            <a:prstGeom prst="rect">
              <a:avLst/>
            </a:prstGeom>
            <a:noFill/>
            <a:ln/>
          </p:spPr>
          <p:txBody>
            <a:bodyPr wrap="square" lIns="0" tIns="0" rIns="0" bIns="0"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a:t>
              </a:r>
              <a:endParaRPr lang="en-US" sz="2600" dirty="0"/>
            </a:p>
          </p:txBody>
        </p:sp>
        <p:sp>
          <p:nvSpPr>
            <p:cNvPr id="21" name="Text 19"/>
            <p:cNvSpPr/>
            <p:nvPr/>
          </p:nvSpPr>
          <p:spPr>
            <a:xfrm>
              <a:off x="8220456" y="2395728"/>
              <a:ext cx="411480" cy="411480"/>
            </a:xfrm>
            <a:prstGeom prst="rect">
              <a:avLst/>
            </a:prstGeom>
            <a:noFill/>
            <a:ln/>
          </p:spPr>
          <p:txBody>
            <a:bodyPr wrap="square" lIns="0" tIns="0" rIns="0" bIns="0" rtlCol="0" anchor="ctr"/>
            <a:lstStyle/>
            <a:p>
              <a:pPr marL="0" indent="0" algn="ctr">
                <a:buNone/>
              </a:pPr>
              <a:r>
                <a:rPr lang="en-US" sz="1500" b="1" dirty="0">
                  <a:solidFill>
                    <a:srgbClr val="6B7280"/>
                  </a:solidFill>
                  <a:latin typeface="Cambria" pitchFamily="34" charset="0"/>
                  <a:ea typeface="Cambria" pitchFamily="34" charset="-122"/>
                  <a:cs typeface="Cambria" pitchFamily="34" charset="-120"/>
                </a:rPr>
                <a:t>3</a:t>
              </a:r>
              <a:endParaRPr lang="en-US" sz="1500" dirty="0"/>
            </a:p>
          </p:txBody>
        </p:sp>
        <p:sp>
          <p:nvSpPr>
            <p:cNvPr id="22" name="Text 20"/>
            <p:cNvSpPr/>
            <p:nvPr/>
          </p:nvSpPr>
          <p:spPr>
            <a:xfrm>
              <a:off x="6419088" y="3429000"/>
              <a:ext cx="2121408" cy="640080"/>
            </a:xfrm>
            <a:prstGeom prst="rect">
              <a:avLst/>
            </a:prstGeom>
            <a:noFill/>
            <a:ln/>
          </p:spPr>
          <p:txBody>
            <a:bodyPr wrap="square" lIns="0" tIns="0" rIns="0" bIns="0" rtlCol="0" anchor="ctr"/>
            <a:lstStyle/>
            <a:p>
              <a:pPr marL="0" indent="0" algn="ctr">
                <a:lnSpc>
                  <a:spcPct val="110000"/>
                </a:lnSpc>
                <a:buNone/>
              </a:pPr>
              <a:r>
                <a:rPr lang="en-US" sz="1500" b="1" dirty="0">
                  <a:solidFill>
                    <a:srgbClr val="1A1A2E"/>
                  </a:solidFill>
                  <a:latin typeface="Cambria" pitchFamily="34" charset="0"/>
                  <a:ea typeface="Cambria" pitchFamily="34" charset="-122"/>
                  <a:cs typeface="Cambria" pitchFamily="34" charset="-120"/>
                </a:rPr>
                <a:t>Validate rigorously</a:t>
              </a:r>
              <a:endParaRPr lang="en-US" sz="1500" dirty="0"/>
            </a:p>
          </p:txBody>
        </p:sp>
        <p:sp>
          <p:nvSpPr>
            <p:cNvPr id="23" name="Text 21"/>
            <p:cNvSpPr/>
            <p:nvPr/>
          </p:nvSpPr>
          <p:spPr>
            <a:xfrm>
              <a:off x="6419088" y="4069080"/>
              <a:ext cx="2121408" cy="1097280"/>
            </a:xfrm>
            <a:prstGeom prst="rect">
              <a:avLst/>
            </a:prstGeom>
            <a:noFill/>
            <a:ln/>
          </p:spPr>
          <p:txBody>
            <a:bodyPr wrap="square" lIns="0" tIns="0" rIns="0" bIns="0" rtlCol="0" anchor="ctr"/>
            <a:lstStyle/>
            <a:p>
              <a:pPr marL="0" indent="0" algn="ctr">
                <a:lnSpc>
                  <a:spcPct val="120000"/>
                </a:lnSpc>
                <a:buNone/>
              </a:pPr>
              <a:r>
                <a:rPr lang="en-US" sz="1600" b="1" dirty="0">
                  <a:solidFill>
                    <a:srgbClr val="6B7280"/>
                  </a:solidFill>
                  <a:latin typeface="Calibri"/>
                  <a:ea typeface="Calibri"/>
                  <a:cs typeface="Calibri"/>
                </a:rPr>
                <a:t>Every result checked against data the system never saw during training.</a:t>
              </a:r>
              <a:endParaRPr lang="en-US" sz="1600" b="1">
                <a:latin typeface="Calibri"/>
                <a:ea typeface="Calibri"/>
                <a:cs typeface="Calibri"/>
              </a:endParaRPr>
            </a:p>
          </p:txBody>
        </p:sp>
        <p:sp>
          <p:nvSpPr>
            <p:cNvPr id="24" name="Text 22"/>
            <p:cNvSpPr/>
            <p:nvPr/>
          </p:nvSpPr>
          <p:spPr>
            <a:xfrm>
              <a:off x="8705088" y="3520440"/>
              <a:ext cx="256032" cy="457200"/>
            </a:xfrm>
            <a:prstGeom prst="rect">
              <a:avLst/>
            </a:prstGeom>
            <a:noFill/>
            <a:ln/>
          </p:spPr>
          <p:txBody>
            <a:bodyPr wrap="square" lIns="0" tIns="0" rIns="0" bIns="0" rtlCol="0" anchor="ctr"/>
            <a:lstStyle/>
            <a:p>
              <a:pPr marL="0" indent="0" algn="ctr">
                <a:buNone/>
              </a:pPr>
              <a:r>
                <a:rPr lang="en-US" sz="2000" b="1" dirty="0">
                  <a:solidFill>
                    <a:srgbClr val="1C7293"/>
                  </a:solidFill>
                  <a:latin typeface="Calibri" pitchFamily="34" charset="0"/>
                  <a:ea typeface="Calibri" pitchFamily="34" charset="-122"/>
                  <a:cs typeface="Calibri" pitchFamily="34" charset="-120"/>
                </a:rPr>
                <a:t>→</a:t>
              </a:r>
              <a:endParaRPr lang="en-US" sz="2000" dirty="0"/>
            </a:p>
          </p:txBody>
        </p:sp>
        <p:sp>
          <p:nvSpPr>
            <p:cNvPr id="25" name="Shape 23"/>
            <p:cNvSpPr/>
            <p:nvPr/>
          </p:nvSpPr>
          <p:spPr>
            <a:xfrm>
              <a:off x="8942832" y="2286000"/>
              <a:ext cx="2487168" cy="3017520"/>
            </a:xfrm>
            <a:prstGeom prst="roundRect">
              <a:avLst>
                <a:gd name="adj" fmla="val 3676"/>
              </a:avLst>
            </a:prstGeom>
            <a:solidFill>
              <a:srgbClr val="FFFFFF"/>
            </a:solidFill>
            <a:ln w="12700">
              <a:solidFill>
                <a:srgbClr val="E5E7EB"/>
              </a:solidFill>
              <a:prstDash val="solid"/>
            </a:ln>
            <a:effectLst>
              <a:outerShdw blurRad="76200" dist="25400" dir="5400000" algn="bl" rotWithShape="0">
                <a:srgbClr val="000000">
                  <a:alpha val="8000"/>
                </a:srgbClr>
              </a:outerShdw>
            </a:effectLst>
          </p:spPr>
        </p:sp>
        <p:sp>
          <p:nvSpPr>
            <p:cNvPr id="26" name="Shape 24"/>
            <p:cNvSpPr/>
            <p:nvPr/>
          </p:nvSpPr>
          <p:spPr>
            <a:xfrm>
              <a:off x="9866376" y="2606040"/>
              <a:ext cx="640080" cy="640080"/>
            </a:xfrm>
            <a:prstGeom prst="ellipse">
              <a:avLst/>
            </a:prstGeom>
            <a:solidFill>
              <a:srgbClr val="1C7293"/>
            </a:solidFill>
            <a:ln/>
          </p:spPr>
        </p:sp>
        <p:sp>
          <p:nvSpPr>
            <p:cNvPr id="27" name="Text 25"/>
            <p:cNvSpPr/>
            <p:nvPr/>
          </p:nvSpPr>
          <p:spPr>
            <a:xfrm>
              <a:off x="9866376" y="2606040"/>
              <a:ext cx="640080" cy="640080"/>
            </a:xfrm>
            <a:prstGeom prst="rect">
              <a:avLst/>
            </a:prstGeom>
            <a:noFill/>
            <a:ln/>
          </p:spPr>
          <p:txBody>
            <a:bodyPr wrap="square" lIns="0" tIns="0" rIns="0" bIns="0"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a:t>
              </a:r>
              <a:endParaRPr lang="en-US" sz="2600" dirty="0"/>
            </a:p>
          </p:txBody>
        </p:sp>
        <p:sp>
          <p:nvSpPr>
            <p:cNvPr id="28" name="Text 26"/>
            <p:cNvSpPr/>
            <p:nvPr/>
          </p:nvSpPr>
          <p:spPr>
            <a:xfrm>
              <a:off x="10927080" y="2395728"/>
              <a:ext cx="411480" cy="411480"/>
            </a:xfrm>
            <a:prstGeom prst="rect">
              <a:avLst/>
            </a:prstGeom>
            <a:noFill/>
            <a:ln/>
          </p:spPr>
          <p:txBody>
            <a:bodyPr wrap="square" lIns="0" tIns="0" rIns="0" bIns="0" rtlCol="0" anchor="ctr"/>
            <a:lstStyle/>
            <a:p>
              <a:pPr marL="0" indent="0" algn="ctr">
                <a:buNone/>
              </a:pPr>
              <a:r>
                <a:rPr lang="en-US" sz="1500" b="1" dirty="0">
                  <a:solidFill>
                    <a:srgbClr val="6B7280"/>
                  </a:solidFill>
                  <a:latin typeface="Cambria" pitchFamily="34" charset="0"/>
                  <a:ea typeface="Cambria" pitchFamily="34" charset="-122"/>
                  <a:cs typeface="Cambria" pitchFamily="34" charset="-120"/>
                </a:rPr>
                <a:t>4</a:t>
              </a:r>
              <a:endParaRPr lang="en-US" sz="1500" dirty="0"/>
            </a:p>
          </p:txBody>
        </p:sp>
        <p:sp>
          <p:nvSpPr>
            <p:cNvPr id="29" name="Text 27"/>
            <p:cNvSpPr/>
            <p:nvPr/>
          </p:nvSpPr>
          <p:spPr>
            <a:xfrm>
              <a:off x="9125712" y="3429000"/>
              <a:ext cx="2121408" cy="640080"/>
            </a:xfrm>
            <a:prstGeom prst="rect">
              <a:avLst/>
            </a:prstGeom>
            <a:noFill/>
            <a:ln/>
          </p:spPr>
          <p:txBody>
            <a:bodyPr wrap="square" lIns="0" tIns="0" rIns="0" bIns="0" rtlCol="0" anchor="ctr"/>
            <a:lstStyle/>
            <a:p>
              <a:pPr marL="0" indent="0" algn="ctr">
                <a:lnSpc>
                  <a:spcPct val="110000"/>
                </a:lnSpc>
                <a:buNone/>
              </a:pPr>
              <a:r>
                <a:rPr lang="en-US" sz="1500" b="1" dirty="0">
                  <a:solidFill>
                    <a:srgbClr val="1A1A2E"/>
                  </a:solidFill>
                  <a:latin typeface="Cambria" pitchFamily="34" charset="0"/>
                  <a:ea typeface="Cambria" pitchFamily="34" charset="-122"/>
                  <a:cs typeface="Cambria" pitchFamily="34" charset="-120"/>
                </a:rPr>
                <a:t>Select the strongest</a:t>
              </a:r>
              <a:endParaRPr lang="en-US" sz="1500" dirty="0"/>
            </a:p>
          </p:txBody>
        </p:sp>
        <p:sp>
          <p:nvSpPr>
            <p:cNvPr id="30" name="Text 28"/>
            <p:cNvSpPr/>
            <p:nvPr/>
          </p:nvSpPr>
          <p:spPr>
            <a:xfrm>
              <a:off x="9125712" y="4069080"/>
              <a:ext cx="2121408" cy="1097280"/>
            </a:xfrm>
            <a:prstGeom prst="rect">
              <a:avLst/>
            </a:prstGeom>
            <a:noFill/>
            <a:ln/>
          </p:spPr>
          <p:txBody>
            <a:bodyPr wrap="square" lIns="0" tIns="0" rIns="0" bIns="0" rtlCol="0" anchor="ctr"/>
            <a:lstStyle/>
            <a:p>
              <a:pPr marL="0" indent="0" algn="ctr">
                <a:lnSpc>
                  <a:spcPct val="120000"/>
                </a:lnSpc>
                <a:buNone/>
              </a:pPr>
              <a:r>
                <a:rPr lang="en-US" sz="1400" b="1" dirty="0">
                  <a:solidFill>
                    <a:srgbClr val="6B7280"/>
                  </a:solidFill>
                  <a:latin typeface="Calibri"/>
                  <a:ea typeface="Calibri"/>
                  <a:cs typeface="Calibri"/>
                </a:rPr>
                <a:t>The most accurate, most reliable approach was chosen — evidence, not preference.</a:t>
              </a:r>
              <a:endParaRPr lang="en-US" sz="1400" b="1">
                <a:latin typeface="Calibri"/>
                <a:ea typeface="Calibri"/>
                <a:cs typeface="Calibri"/>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72A"/>
        </a:solidFill>
        <a:effectLst/>
      </p:bgPr>
    </p:bg>
    <p:spTree>
      <p:nvGrpSpPr>
        <p:cNvPr id="1" name=""/>
        <p:cNvGrpSpPr/>
        <p:nvPr/>
      </p:nvGrpSpPr>
      <p:grpSpPr>
        <a:xfrm>
          <a:off x="0" y="0"/>
          <a:ext cx="0" cy="0"/>
          <a:chOff x="0" y="0"/>
          <a:chExt cx="0" cy="0"/>
        </a:xfrm>
      </p:grpSpPr>
      <p:grpSp>
        <p:nvGrpSpPr>
          <p:cNvPr id="15" name="Group 14">
            <a:extLst>
              <a:ext uri="{FF2B5EF4-FFF2-40B4-BE49-F238E27FC236}">
                <a16:creationId xmlns:a16="http://schemas.microsoft.com/office/drawing/2014/main" id="{9408DC43-3EB4-D28E-E49E-F802061E6622}"/>
              </a:ext>
            </a:extLst>
          </p:cNvPr>
          <p:cNvGrpSpPr/>
          <p:nvPr/>
        </p:nvGrpSpPr>
        <p:grpSpPr>
          <a:xfrm>
            <a:off x="822960" y="684349"/>
            <a:ext cx="10515600" cy="5396411"/>
            <a:chOff x="822960" y="684349"/>
            <a:chExt cx="10515600" cy="5396411"/>
          </a:xfrm>
        </p:grpSpPr>
        <p:sp>
          <p:nvSpPr>
            <p:cNvPr id="2" name="Text 0"/>
            <p:cNvSpPr/>
            <p:nvPr/>
          </p:nvSpPr>
          <p:spPr>
            <a:xfrm>
              <a:off x="822960" y="684349"/>
              <a:ext cx="7315200" cy="365760"/>
            </a:xfrm>
            <a:prstGeom prst="rect">
              <a:avLst/>
            </a:prstGeom>
            <a:noFill/>
            <a:ln/>
          </p:spPr>
          <p:txBody>
            <a:bodyPr wrap="square" lIns="0" tIns="0" rIns="0" bIns="0" rtlCol="0" anchor="ctr"/>
            <a:lstStyle/>
            <a:p>
              <a:pPr marL="0" indent="0">
                <a:buNone/>
              </a:pPr>
              <a:r>
                <a:rPr lang="en-US" sz="2000" b="1" kern="0" spc="200" dirty="0">
                  <a:solidFill>
                    <a:srgbClr val="1C7293"/>
                  </a:solidFill>
                  <a:latin typeface="Calibri"/>
                  <a:ea typeface="Calibri"/>
                  <a:cs typeface="Calibri"/>
                </a:rPr>
                <a:t>RESULTS THAT MATTER</a:t>
              </a:r>
              <a:endParaRPr lang="en-US" sz="2000">
                <a:latin typeface="Calibri"/>
                <a:ea typeface="Calibri"/>
                <a:cs typeface="Calibri"/>
              </a:endParaRPr>
            </a:p>
          </p:txBody>
        </p:sp>
        <p:sp>
          <p:nvSpPr>
            <p:cNvPr id="3" name="Text 1"/>
            <p:cNvSpPr/>
            <p:nvPr/>
          </p:nvSpPr>
          <p:spPr>
            <a:xfrm>
              <a:off x="822960" y="1095829"/>
              <a:ext cx="10241280" cy="640080"/>
            </a:xfrm>
            <a:prstGeom prst="rect">
              <a:avLst/>
            </a:prstGeom>
            <a:noFill/>
            <a:ln/>
          </p:spPr>
          <p:txBody>
            <a:bodyPr wrap="square" lIns="0" tIns="0" rIns="0" bIns="0"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Tested against thousands of real bookings the system never saw.</a:t>
              </a:r>
              <a:endParaRPr lang="en-US" sz="2400" dirty="0"/>
            </a:p>
          </p:txBody>
        </p:sp>
        <p:sp>
          <p:nvSpPr>
            <p:cNvPr id="4" name="Shape 2"/>
            <p:cNvSpPr/>
            <p:nvPr/>
          </p:nvSpPr>
          <p:spPr>
            <a:xfrm>
              <a:off x="822960" y="2011680"/>
              <a:ext cx="3246120" cy="2651760"/>
            </a:xfrm>
            <a:prstGeom prst="roundRect">
              <a:avLst>
                <a:gd name="adj" fmla="val 3448"/>
              </a:avLst>
            </a:prstGeom>
            <a:solidFill>
              <a:srgbClr val="1E2761"/>
            </a:solidFill>
            <a:ln/>
          </p:spPr>
        </p:sp>
        <p:sp>
          <p:nvSpPr>
            <p:cNvPr id="5" name="Text 3"/>
            <p:cNvSpPr/>
            <p:nvPr/>
          </p:nvSpPr>
          <p:spPr>
            <a:xfrm>
              <a:off x="822960" y="2331720"/>
              <a:ext cx="3246120" cy="1097280"/>
            </a:xfrm>
            <a:prstGeom prst="rect">
              <a:avLst/>
            </a:prstGeom>
            <a:noFill/>
            <a:ln/>
          </p:spPr>
          <p:txBody>
            <a:bodyPr wrap="square" lIns="0" tIns="0" rIns="0" bIns="0" rtlCol="0" anchor="ctr"/>
            <a:lstStyle/>
            <a:p>
              <a:pPr marL="0" indent="0" algn="ctr">
                <a:buNone/>
              </a:pPr>
              <a:r>
                <a:rPr lang="en-US" sz="5200" b="1" dirty="0">
                  <a:solidFill>
                    <a:srgbClr val="E24B4A"/>
                  </a:solidFill>
                  <a:latin typeface="Cambria" pitchFamily="34" charset="0"/>
                  <a:ea typeface="Cambria" pitchFamily="34" charset="-122"/>
                  <a:cs typeface="Cambria" pitchFamily="34" charset="-120"/>
                </a:rPr>
                <a:t>90%</a:t>
              </a:r>
              <a:endParaRPr lang="en-US" sz="5200" dirty="0"/>
            </a:p>
          </p:txBody>
        </p:sp>
        <p:sp>
          <p:nvSpPr>
            <p:cNvPr id="6" name="Text 4"/>
            <p:cNvSpPr/>
            <p:nvPr/>
          </p:nvSpPr>
          <p:spPr>
            <a:xfrm>
              <a:off x="1005840" y="3566160"/>
              <a:ext cx="2880360" cy="822960"/>
            </a:xfrm>
            <a:prstGeom prst="rect">
              <a:avLst/>
            </a:prstGeom>
            <a:noFill/>
            <a:ln/>
          </p:spPr>
          <p:txBody>
            <a:bodyPr wrap="square" lIns="0" tIns="0" rIns="0" bIns="0" rtlCol="0" anchor="ctr"/>
            <a:lstStyle/>
            <a:p>
              <a:pPr marL="0" indent="0" algn="ctr">
                <a:lnSpc>
                  <a:spcPct val="120000"/>
                </a:lnSpc>
                <a:buNone/>
              </a:pPr>
              <a:r>
                <a:rPr lang="en-US" sz="2000" b="1" dirty="0">
                  <a:solidFill>
                    <a:srgbClr val="CADCFC"/>
                  </a:solidFill>
                  <a:latin typeface="Calibri"/>
                  <a:ea typeface="Calibri"/>
                  <a:cs typeface="Calibri"/>
                </a:rPr>
                <a:t>Overall Forecasting</a:t>
              </a:r>
              <a:endParaRPr lang="en-US" sz="2000" b="1">
                <a:latin typeface="Calibri"/>
                <a:ea typeface="Calibri"/>
                <a:cs typeface="Calibri"/>
              </a:endParaRPr>
            </a:p>
            <a:p>
              <a:pPr marL="0" indent="0" algn="ctr">
                <a:lnSpc>
                  <a:spcPct val="120000"/>
                </a:lnSpc>
                <a:buNone/>
              </a:pPr>
              <a:r>
                <a:rPr lang="en-US" sz="2000" b="1" dirty="0">
                  <a:solidFill>
                    <a:srgbClr val="CADCFC"/>
                  </a:solidFill>
                  <a:latin typeface="Calibri"/>
                  <a:ea typeface="Calibri"/>
                  <a:cs typeface="Calibri"/>
                </a:rPr>
                <a:t>Accuracy</a:t>
              </a:r>
              <a:endParaRPr lang="en-US" sz="2000" b="1">
                <a:latin typeface="Calibri"/>
                <a:ea typeface="Calibri"/>
                <a:cs typeface="Calibri"/>
              </a:endParaRPr>
            </a:p>
          </p:txBody>
        </p:sp>
        <p:sp>
          <p:nvSpPr>
            <p:cNvPr id="7" name="Shape 5"/>
            <p:cNvSpPr/>
            <p:nvPr/>
          </p:nvSpPr>
          <p:spPr>
            <a:xfrm>
              <a:off x="4389120" y="2011680"/>
              <a:ext cx="3246120" cy="2651760"/>
            </a:xfrm>
            <a:prstGeom prst="roundRect">
              <a:avLst>
                <a:gd name="adj" fmla="val 3448"/>
              </a:avLst>
            </a:prstGeom>
            <a:solidFill>
              <a:srgbClr val="1E2761"/>
            </a:solidFill>
            <a:ln/>
          </p:spPr>
        </p:sp>
        <p:sp>
          <p:nvSpPr>
            <p:cNvPr id="8" name="Text 6"/>
            <p:cNvSpPr/>
            <p:nvPr/>
          </p:nvSpPr>
          <p:spPr>
            <a:xfrm>
              <a:off x="4389120" y="2331720"/>
              <a:ext cx="3246120" cy="1097280"/>
            </a:xfrm>
            <a:prstGeom prst="rect">
              <a:avLst/>
            </a:prstGeom>
            <a:noFill/>
            <a:ln/>
          </p:spPr>
          <p:txBody>
            <a:bodyPr wrap="square" lIns="0" tIns="0" rIns="0" bIns="0" rtlCol="0" anchor="ctr"/>
            <a:lstStyle/>
            <a:p>
              <a:pPr marL="0" indent="0" algn="ctr">
                <a:buNone/>
              </a:pPr>
              <a:r>
                <a:rPr lang="en-US" sz="5200" b="1" dirty="0">
                  <a:solidFill>
                    <a:srgbClr val="2E9E6D"/>
                  </a:solidFill>
                  <a:latin typeface="Cambria" pitchFamily="34" charset="0"/>
                  <a:ea typeface="Cambria" pitchFamily="34" charset="-122"/>
                  <a:cs typeface="Cambria" pitchFamily="34" charset="-120"/>
                </a:rPr>
                <a:t>82%</a:t>
              </a:r>
              <a:endParaRPr lang="en-US" sz="5200" dirty="0"/>
            </a:p>
          </p:txBody>
        </p:sp>
        <p:sp>
          <p:nvSpPr>
            <p:cNvPr id="9" name="Text 7"/>
            <p:cNvSpPr/>
            <p:nvPr/>
          </p:nvSpPr>
          <p:spPr>
            <a:xfrm>
              <a:off x="4572000" y="3566160"/>
              <a:ext cx="2880360" cy="822960"/>
            </a:xfrm>
            <a:prstGeom prst="rect">
              <a:avLst/>
            </a:prstGeom>
            <a:noFill/>
            <a:ln/>
          </p:spPr>
          <p:txBody>
            <a:bodyPr wrap="square" lIns="0" tIns="0" rIns="0" bIns="0" rtlCol="0" anchor="ctr"/>
            <a:lstStyle/>
            <a:p>
              <a:pPr marL="0" indent="0" algn="ctr">
                <a:lnSpc>
                  <a:spcPct val="120000"/>
                </a:lnSpc>
                <a:buNone/>
              </a:pPr>
              <a:r>
                <a:rPr lang="en-US" b="1" dirty="0">
                  <a:solidFill>
                    <a:srgbClr val="CADCFC"/>
                  </a:solidFill>
                  <a:latin typeface="Calibri"/>
                  <a:ea typeface="Calibri"/>
                  <a:cs typeface="Calibri"/>
                </a:rPr>
                <a:t>of Actual Cancellations</a:t>
              </a:r>
              <a:endParaRPr lang="en-US" b="1">
                <a:latin typeface="Calibri"/>
                <a:ea typeface="Calibri"/>
                <a:cs typeface="Calibri"/>
              </a:endParaRPr>
            </a:p>
            <a:p>
              <a:pPr marL="0" indent="0" algn="ctr">
                <a:lnSpc>
                  <a:spcPct val="120000"/>
                </a:lnSpc>
                <a:buNone/>
              </a:pPr>
              <a:r>
                <a:rPr lang="en-US" b="1" dirty="0">
                  <a:solidFill>
                    <a:srgbClr val="CADCFC"/>
                  </a:solidFill>
                  <a:latin typeface="Calibri"/>
                  <a:ea typeface="Calibri"/>
                  <a:cs typeface="Calibri"/>
                </a:rPr>
                <a:t>Caught in Advance</a:t>
              </a:r>
              <a:endParaRPr lang="en-US" b="1">
                <a:latin typeface="Calibri"/>
                <a:ea typeface="Calibri"/>
                <a:cs typeface="Calibri"/>
              </a:endParaRPr>
            </a:p>
          </p:txBody>
        </p:sp>
        <p:sp>
          <p:nvSpPr>
            <p:cNvPr id="10" name="Shape 8"/>
            <p:cNvSpPr/>
            <p:nvPr/>
          </p:nvSpPr>
          <p:spPr>
            <a:xfrm>
              <a:off x="7955280" y="2011680"/>
              <a:ext cx="3246120" cy="2651760"/>
            </a:xfrm>
            <a:prstGeom prst="roundRect">
              <a:avLst>
                <a:gd name="adj" fmla="val 3448"/>
              </a:avLst>
            </a:prstGeom>
            <a:solidFill>
              <a:srgbClr val="1E2761"/>
            </a:solidFill>
            <a:ln/>
          </p:spPr>
        </p:sp>
        <p:sp>
          <p:nvSpPr>
            <p:cNvPr id="11" name="Text 9"/>
            <p:cNvSpPr/>
            <p:nvPr/>
          </p:nvSpPr>
          <p:spPr>
            <a:xfrm>
              <a:off x="7955280" y="2331720"/>
              <a:ext cx="3246120" cy="1097280"/>
            </a:xfrm>
            <a:prstGeom prst="rect">
              <a:avLst/>
            </a:prstGeom>
            <a:noFill/>
            <a:ln/>
          </p:spPr>
          <p:txBody>
            <a:bodyPr wrap="square" lIns="0" tIns="0" rIns="0" bIns="0" rtlCol="0" anchor="ctr"/>
            <a:lstStyle/>
            <a:p>
              <a:pPr marL="0" indent="0" algn="ctr">
                <a:buNone/>
              </a:pPr>
              <a:r>
                <a:rPr lang="en-US" sz="5200" b="1" dirty="0">
                  <a:solidFill>
                    <a:srgbClr val="1C7293"/>
                  </a:solidFill>
                  <a:latin typeface="Cambria" pitchFamily="34" charset="0"/>
                  <a:ea typeface="Cambria" pitchFamily="34" charset="-122"/>
                  <a:cs typeface="Cambria" pitchFamily="34" charset="-120"/>
                </a:rPr>
                <a:t>96%</a:t>
              </a:r>
              <a:endParaRPr lang="en-US" sz="5200" dirty="0"/>
            </a:p>
          </p:txBody>
        </p:sp>
        <p:sp>
          <p:nvSpPr>
            <p:cNvPr id="12" name="Text 10"/>
            <p:cNvSpPr/>
            <p:nvPr/>
          </p:nvSpPr>
          <p:spPr>
            <a:xfrm>
              <a:off x="8138160" y="3566160"/>
              <a:ext cx="2880360" cy="822960"/>
            </a:xfrm>
            <a:prstGeom prst="rect">
              <a:avLst/>
            </a:prstGeom>
            <a:noFill/>
            <a:ln/>
          </p:spPr>
          <p:txBody>
            <a:bodyPr wrap="square" lIns="0" tIns="0" rIns="0" bIns="0" rtlCol="0" anchor="ctr"/>
            <a:lstStyle/>
            <a:p>
              <a:pPr marL="0" indent="0" algn="ctr">
                <a:lnSpc>
                  <a:spcPct val="120000"/>
                </a:lnSpc>
                <a:buNone/>
              </a:pPr>
              <a:r>
                <a:rPr lang="en-US" b="1" dirty="0">
                  <a:solidFill>
                    <a:srgbClr val="CADCFC"/>
                  </a:solidFill>
                  <a:latin typeface="Calibri"/>
                  <a:ea typeface="Calibri"/>
                  <a:cs typeface="Calibri"/>
                </a:rPr>
                <a:t>Reliability at Ranking</a:t>
              </a:r>
              <a:endParaRPr lang="en-US" b="1">
                <a:latin typeface="Calibri"/>
                <a:ea typeface="Calibri"/>
                <a:cs typeface="Calibri"/>
              </a:endParaRPr>
            </a:p>
            <a:p>
              <a:pPr marL="0" indent="0" algn="ctr">
                <a:lnSpc>
                  <a:spcPct val="120000"/>
                </a:lnSpc>
                <a:buNone/>
              </a:pPr>
              <a:r>
                <a:rPr lang="en-US" b="1" dirty="0">
                  <a:solidFill>
                    <a:srgbClr val="CADCFC"/>
                  </a:solidFill>
                  <a:latin typeface="Calibri"/>
                  <a:ea typeface="Calibri"/>
                  <a:cs typeface="Calibri"/>
                </a:rPr>
                <a:t>High- vs. Low-Risk Bookings</a:t>
              </a:r>
              <a:endParaRPr lang="en-US" b="1">
                <a:latin typeface="Calibri"/>
                <a:ea typeface="Calibri"/>
                <a:cs typeface="Calibri"/>
              </a:endParaRPr>
            </a:p>
          </p:txBody>
        </p:sp>
        <p:sp>
          <p:nvSpPr>
            <p:cNvPr id="13" name="Shape 11"/>
            <p:cNvSpPr/>
            <p:nvPr/>
          </p:nvSpPr>
          <p:spPr>
            <a:xfrm>
              <a:off x="822960" y="5074920"/>
              <a:ext cx="10515600" cy="0"/>
            </a:xfrm>
            <a:prstGeom prst="line">
              <a:avLst/>
            </a:prstGeom>
            <a:noFill/>
            <a:ln w="12700">
              <a:solidFill>
                <a:srgbClr val="334155"/>
              </a:solidFill>
              <a:prstDash val="solid"/>
            </a:ln>
          </p:spPr>
        </p:sp>
        <p:sp>
          <p:nvSpPr>
            <p:cNvPr id="14" name="Text 12"/>
            <p:cNvSpPr/>
            <p:nvPr/>
          </p:nvSpPr>
          <p:spPr>
            <a:xfrm>
              <a:off x="1396274" y="5257800"/>
              <a:ext cx="9942286" cy="822960"/>
            </a:xfrm>
            <a:prstGeom prst="rect">
              <a:avLst/>
            </a:prstGeom>
            <a:noFill/>
            <a:ln/>
          </p:spPr>
          <p:txBody>
            <a:bodyPr wrap="square" lIns="0" tIns="0" rIns="0" bIns="0" rtlCol="0" anchor="ctr"/>
            <a:lstStyle/>
            <a:p>
              <a:pPr marL="0" indent="0">
                <a:lnSpc>
                  <a:spcPct val="130000"/>
                </a:lnSpc>
                <a:buNone/>
              </a:pPr>
              <a:r>
                <a:rPr lang="en-US" b="1" i="1" dirty="0">
                  <a:solidFill>
                    <a:srgbClr val="CADCFC"/>
                  </a:solidFill>
                  <a:latin typeface="Calibri"/>
                  <a:ea typeface="Calibri"/>
                  <a:cs typeface="Calibri"/>
                </a:rPr>
                <a:t>Several methods were compared head-to-head, and the strongest performer was chosen on evidence — not assumption.</a:t>
              </a:r>
              <a:endParaRPr lang="en-US" b="1">
                <a:latin typeface="Calibri"/>
                <a:ea typeface="Calibri"/>
                <a:cs typeface="Calibri"/>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9FB"/>
        </a:solidFill>
        <a:effectLst/>
      </p:bgPr>
    </p:bg>
    <p:spTree>
      <p:nvGrpSpPr>
        <p:cNvPr id="1" name=""/>
        <p:cNvGrpSpPr/>
        <p:nvPr/>
      </p:nvGrpSpPr>
      <p:grpSpPr>
        <a:xfrm>
          <a:off x="0" y="0"/>
          <a:ext cx="0" cy="0"/>
          <a:chOff x="0" y="0"/>
          <a:chExt cx="0" cy="0"/>
        </a:xfrm>
      </p:grpSpPr>
      <p:grpSp>
        <p:nvGrpSpPr>
          <p:cNvPr id="28" name="Group 27">
            <a:extLst>
              <a:ext uri="{FF2B5EF4-FFF2-40B4-BE49-F238E27FC236}">
                <a16:creationId xmlns:a16="http://schemas.microsoft.com/office/drawing/2014/main" id="{72B8EFF5-7114-CD57-CD89-42F12B6B2CAE}"/>
              </a:ext>
            </a:extLst>
          </p:cNvPr>
          <p:cNvGrpSpPr/>
          <p:nvPr/>
        </p:nvGrpSpPr>
        <p:grpSpPr>
          <a:xfrm>
            <a:off x="822960" y="502920"/>
            <a:ext cx="10543705" cy="5577840"/>
            <a:chOff x="822960" y="502920"/>
            <a:chExt cx="10543705" cy="5577840"/>
          </a:xfrm>
        </p:grpSpPr>
        <p:grpSp>
          <p:nvGrpSpPr>
            <p:cNvPr id="24" name="Group 23">
              <a:extLst>
                <a:ext uri="{FF2B5EF4-FFF2-40B4-BE49-F238E27FC236}">
                  <a16:creationId xmlns:a16="http://schemas.microsoft.com/office/drawing/2014/main" id="{885C9AF4-EAE0-0214-1910-5F9EF4C5541E}"/>
                </a:ext>
              </a:extLst>
            </p:cNvPr>
            <p:cNvGrpSpPr/>
            <p:nvPr/>
          </p:nvGrpSpPr>
          <p:grpSpPr>
            <a:xfrm>
              <a:off x="822960" y="502920"/>
              <a:ext cx="10469880" cy="5577840"/>
              <a:chOff x="822960" y="502920"/>
              <a:chExt cx="10469880" cy="5577840"/>
            </a:xfrm>
          </p:grpSpPr>
          <p:sp>
            <p:nvSpPr>
              <p:cNvPr id="2" name="Text 0"/>
              <p:cNvSpPr/>
              <p:nvPr/>
            </p:nvSpPr>
            <p:spPr>
              <a:xfrm>
                <a:off x="822960" y="502920"/>
                <a:ext cx="7315200" cy="365760"/>
              </a:xfrm>
              <a:prstGeom prst="rect">
                <a:avLst/>
              </a:prstGeom>
              <a:noFill/>
              <a:ln/>
            </p:spPr>
            <p:txBody>
              <a:bodyPr wrap="square" lIns="0" tIns="0" rIns="0" bIns="0" rtlCol="0" anchor="ctr"/>
              <a:lstStyle/>
              <a:p>
                <a:pPr marL="0" indent="0">
                  <a:buNone/>
                </a:pPr>
                <a:r>
                  <a:rPr lang="en-US" sz="2400" b="1" kern="0" spc="200" dirty="0">
                    <a:solidFill>
                      <a:srgbClr val="1C7293"/>
                    </a:solidFill>
                    <a:latin typeface="Calibri"/>
                    <a:ea typeface="Calibri"/>
                    <a:cs typeface="Calibri"/>
                  </a:rPr>
                  <a:t>THE EXPERIENCE</a:t>
                </a:r>
                <a:endParaRPr lang="en-US" sz="2400">
                  <a:latin typeface="Calibri"/>
                  <a:ea typeface="Calibri"/>
                  <a:cs typeface="Calibri"/>
                </a:endParaRPr>
              </a:p>
            </p:txBody>
          </p:sp>
          <p:sp>
            <p:nvSpPr>
              <p:cNvPr id="3" name="Text 1"/>
              <p:cNvSpPr/>
              <p:nvPr/>
            </p:nvSpPr>
            <p:spPr>
              <a:xfrm>
                <a:off x="822960" y="796109"/>
                <a:ext cx="10058400" cy="731520"/>
              </a:xfrm>
              <a:prstGeom prst="rect">
                <a:avLst/>
              </a:prstGeom>
              <a:noFill/>
              <a:ln/>
            </p:spPr>
            <p:txBody>
              <a:bodyPr wrap="square" lIns="0" tIns="0" rIns="0" bIns="0" rtlCol="0" anchor="ctr"/>
              <a:lstStyle/>
              <a:p>
                <a:pPr marL="0" indent="0">
                  <a:buNone/>
                </a:pPr>
                <a:r>
                  <a:rPr lang="en-US" sz="2800" b="1" dirty="0">
                    <a:solidFill>
                      <a:srgbClr val="1A1A2E"/>
                    </a:solidFill>
                    <a:latin typeface="Cambria" pitchFamily="34" charset="0"/>
                    <a:ea typeface="Cambria" pitchFamily="34" charset="-122"/>
                    <a:cs typeface="Cambria" pitchFamily="34" charset="-120"/>
                  </a:rPr>
                  <a:t>From prediction to action, in one screen.</a:t>
                </a:r>
                <a:endParaRPr lang="en-US" sz="2800" dirty="0"/>
              </a:p>
            </p:txBody>
          </p:sp>
          <p:sp>
            <p:nvSpPr>
              <p:cNvPr id="4" name="Shape 2"/>
              <p:cNvSpPr/>
              <p:nvPr/>
            </p:nvSpPr>
            <p:spPr>
              <a:xfrm>
                <a:off x="822960" y="1874520"/>
                <a:ext cx="5074920" cy="1965960"/>
              </a:xfrm>
              <a:prstGeom prst="roundRect">
                <a:avLst>
                  <a:gd name="adj" fmla="val 4651"/>
                </a:avLst>
              </a:prstGeom>
              <a:solidFill>
                <a:srgbClr val="FFFFFF"/>
              </a:solidFill>
              <a:ln w="12700">
                <a:solidFill>
                  <a:srgbClr val="E5E7EB"/>
                </a:solidFill>
                <a:prstDash val="solid"/>
              </a:ln>
              <a:effectLst>
                <a:outerShdw blurRad="76200" dist="25400" dir="5400000" algn="bl" rotWithShape="0">
                  <a:srgbClr val="000000">
                    <a:alpha val="7000"/>
                  </a:srgbClr>
                </a:outerShdw>
              </a:effectLst>
            </p:spPr>
          </p:sp>
          <p:sp>
            <p:nvSpPr>
              <p:cNvPr id="5" name="Shape 3"/>
              <p:cNvSpPr/>
              <p:nvPr/>
            </p:nvSpPr>
            <p:spPr>
              <a:xfrm>
                <a:off x="1097280" y="2194560"/>
                <a:ext cx="566928" cy="566928"/>
              </a:xfrm>
              <a:prstGeom prst="ellipse">
                <a:avLst/>
              </a:prstGeom>
              <a:solidFill>
                <a:srgbClr val="0F172A"/>
              </a:solidFill>
              <a:ln/>
            </p:spPr>
          </p:sp>
          <p:sp>
            <p:nvSpPr>
              <p:cNvPr id="6" name="Text 4"/>
              <p:cNvSpPr/>
              <p:nvPr/>
            </p:nvSpPr>
            <p:spPr>
              <a:xfrm>
                <a:off x="1097280" y="2194560"/>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7" name="Text 5"/>
              <p:cNvSpPr/>
              <p:nvPr/>
            </p:nvSpPr>
            <p:spPr>
              <a:xfrm>
                <a:off x="1828800" y="2225185"/>
                <a:ext cx="3886200" cy="411480"/>
              </a:xfrm>
              <a:prstGeom prst="rect">
                <a:avLst/>
              </a:prstGeom>
              <a:noFill/>
              <a:ln/>
            </p:spPr>
            <p:txBody>
              <a:bodyPr wrap="square" lIns="0" tIns="0" rIns="0" bIns="0" rtlCol="0" anchor="ctr"/>
              <a:lstStyle/>
              <a:p>
                <a:pPr marL="0" indent="0">
                  <a:buNone/>
                </a:pPr>
                <a:r>
                  <a:rPr lang="en-US" sz="2000" b="1" dirty="0">
                    <a:solidFill>
                      <a:srgbClr val="1A1A2E"/>
                    </a:solidFill>
                    <a:latin typeface="Cambria"/>
                    <a:ea typeface="Cambria"/>
                    <a:cs typeface="Cambria" pitchFamily="34" charset="-120"/>
                  </a:rPr>
                  <a:t>Live Risk Score</a:t>
                </a:r>
                <a:endParaRPr lang="en-US" sz="2000">
                  <a:latin typeface="Calibri"/>
                  <a:ea typeface="Calibri"/>
                  <a:cs typeface="Calibri"/>
                </a:endParaRPr>
              </a:p>
            </p:txBody>
          </p:sp>
          <p:sp>
            <p:nvSpPr>
              <p:cNvPr id="8" name="Text 6"/>
              <p:cNvSpPr/>
              <p:nvPr/>
            </p:nvSpPr>
            <p:spPr>
              <a:xfrm>
                <a:off x="1828800" y="2587752"/>
                <a:ext cx="3886200" cy="1097280"/>
              </a:xfrm>
              <a:prstGeom prst="rect">
                <a:avLst/>
              </a:prstGeom>
              <a:noFill/>
              <a:ln/>
            </p:spPr>
            <p:txBody>
              <a:bodyPr wrap="square" lIns="0" tIns="0" rIns="0" bIns="0" rtlCol="0" anchor="ctr"/>
              <a:lstStyle/>
              <a:p>
                <a:pPr marL="0" indent="0">
                  <a:lnSpc>
                    <a:spcPct val="125000"/>
                  </a:lnSpc>
                  <a:buNone/>
                </a:pPr>
                <a:r>
                  <a:rPr lang="en-US" b="1" dirty="0">
                    <a:solidFill>
                      <a:srgbClr val="6B7280"/>
                    </a:solidFill>
                    <a:latin typeface="Calibri"/>
                    <a:ea typeface="Calibri"/>
                    <a:cs typeface="Calibri"/>
                  </a:rPr>
                  <a:t>A clear, color-coded read on every booking's cancellation risk — Low, Medium, or High.</a:t>
                </a:r>
                <a:endParaRPr lang="en-US" b="1">
                  <a:latin typeface="Calibri"/>
                  <a:ea typeface="Calibri"/>
                  <a:cs typeface="Calibri"/>
                </a:endParaRPr>
              </a:p>
            </p:txBody>
          </p:sp>
          <p:sp>
            <p:nvSpPr>
              <p:cNvPr id="9" name="Shape 7"/>
              <p:cNvSpPr/>
              <p:nvPr/>
            </p:nvSpPr>
            <p:spPr>
              <a:xfrm>
                <a:off x="6217920" y="1874520"/>
                <a:ext cx="5074920" cy="1965960"/>
              </a:xfrm>
              <a:prstGeom prst="roundRect">
                <a:avLst>
                  <a:gd name="adj" fmla="val 4651"/>
                </a:avLst>
              </a:prstGeom>
              <a:solidFill>
                <a:srgbClr val="FFFFFF"/>
              </a:solidFill>
              <a:ln w="12700">
                <a:solidFill>
                  <a:srgbClr val="E5E7EB"/>
                </a:solidFill>
                <a:prstDash val="solid"/>
              </a:ln>
              <a:effectLst>
                <a:outerShdw blurRad="76200" dist="25400" dir="5400000" algn="bl" rotWithShape="0">
                  <a:srgbClr val="000000">
                    <a:alpha val="7000"/>
                  </a:srgbClr>
                </a:outerShdw>
              </a:effectLst>
            </p:spPr>
          </p:sp>
          <p:sp>
            <p:nvSpPr>
              <p:cNvPr id="10" name="Shape 8"/>
              <p:cNvSpPr/>
              <p:nvPr/>
            </p:nvSpPr>
            <p:spPr>
              <a:xfrm>
                <a:off x="6492240" y="2194560"/>
                <a:ext cx="566928" cy="566928"/>
              </a:xfrm>
              <a:prstGeom prst="ellipse">
                <a:avLst/>
              </a:prstGeom>
              <a:solidFill>
                <a:srgbClr val="1C7293"/>
              </a:solidFill>
              <a:ln/>
            </p:spPr>
          </p:sp>
          <p:sp>
            <p:nvSpPr>
              <p:cNvPr id="11" name="Text 9"/>
              <p:cNvSpPr/>
              <p:nvPr/>
            </p:nvSpPr>
            <p:spPr>
              <a:xfrm>
                <a:off x="6492240" y="2194560"/>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12" name="Text 10"/>
              <p:cNvSpPr/>
              <p:nvPr/>
            </p:nvSpPr>
            <p:spPr>
              <a:xfrm>
                <a:off x="7165703" y="2239699"/>
                <a:ext cx="3886200" cy="411480"/>
              </a:xfrm>
              <a:prstGeom prst="rect">
                <a:avLst/>
              </a:prstGeom>
              <a:noFill/>
              <a:ln/>
            </p:spPr>
            <p:txBody>
              <a:bodyPr wrap="square" lIns="0" tIns="0" rIns="0" bIns="0" rtlCol="0" anchor="ctr"/>
              <a:lstStyle/>
              <a:p>
                <a:pPr marL="0" indent="0">
                  <a:buNone/>
                </a:pPr>
                <a:r>
                  <a:rPr lang="en-US" sz="2000" b="1" dirty="0">
                    <a:solidFill>
                      <a:srgbClr val="1A1A2E"/>
                    </a:solidFill>
                    <a:latin typeface="Cambria"/>
                    <a:ea typeface="Cambria"/>
                    <a:cs typeface="Cambria" pitchFamily="34" charset="-120"/>
                  </a:rPr>
                  <a:t>Plain-Language Reasoning</a:t>
                </a:r>
                <a:endParaRPr lang="en-US" sz="2000" b="1">
                  <a:latin typeface="Cambria"/>
                  <a:ea typeface="Cambria"/>
                  <a:cs typeface="Calibri"/>
                </a:endParaRPr>
              </a:p>
            </p:txBody>
          </p:sp>
          <p:sp>
            <p:nvSpPr>
              <p:cNvPr id="13" name="Text 11"/>
              <p:cNvSpPr/>
              <p:nvPr/>
            </p:nvSpPr>
            <p:spPr>
              <a:xfrm>
                <a:off x="6955246" y="2580495"/>
                <a:ext cx="4154714" cy="1104537"/>
              </a:xfrm>
              <a:prstGeom prst="rect">
                <a:avLst/>
              </a:prstGeom>
              <a:noFill/>
              <a:ln/>
            </p:spPr>
            <p:txBody>
              <a:bodyPr wrap="square" lIns="0" tIns="0" rIns="0" bIns="0" rtlCol="0" anchor="ctr"/>
              <a:lstStyle/>
              <a:p>
                <a:pPr marL="0" indent="0">
                  <a:lnSpc>
                    <a:spcPct val="125000"/>
                  </a:lnSpc>
                  <a:buNone/>
                </a:pPr>
                <a:r>
                  <a:rPr lang="en-US" b="1" dirty="0">
                    <a:solidFill>
                      <a:srgbClr val="6B7280"/>
                    </a:solidFill>
                    <a:latin typeface="Calibri"/>
                    <a:ea typeface="Calibri"/>
                    <a:cs typeface="Calibri"/>
                  </a:rPr>
                  <a:t>The 'why' behind every score, explained the way a human analyst would explain it.</a:t>
                </a:r>
                <a:endParaRPr lang="en-US" b="1">
                  <a:latin typeface="Calibri"/>
                  <a:ea typeface="Calibri"/>
                  <a:cs typeface="Calibri"/>
                </a:endParaRPr>
              </a:p>
            </p:txBody>
          </p:sp>
          <p:sp>
            <p:nvSpPr>
              <p:cNvPr id="14" name="Shape 12"/>
              <p:cNvSpPr/>
              <p:nvPr/>
            </p:nvSpPr>
            <p:spPr>
              <a:xfrm>
                <a:off x="822960" y="4114800"/>
                <a:ext cx="5074920" cy="1965960"/>
              </a:xfrm>
              <a:prstGeom prst="roundRect">
                <a:avLst>
                  <a:gd name="adj" fmla="val 4651"/>
                </a:avLst>
              </a:prstGeom>
              <a:solidFill>
                <a:srgbClr val="FFFFFF"/>
              </a:solidFill>
              <a:ln w="12700">
                <a:solidFill>
                  <a:srgbClr val="E5E7EB"/>
                </a:solidFill>
                <a:prstDash val="solid"/>
              </a:ln>
              <a:effectLst>
                <a:outerShdw blurRad="76200" dist="25400" dir="5400000" algn="bl" rotWithShape="0">
                  <a:srgbClr val="000000">
                    <a:alpha val="7000"/>
                  </a:srgbClr>
                </a:outerShdw>
              </a:effectLst>
            </p:spPr>
          </p:sp>
          <p:sp>
            <p:nvSpPr>
              <p:cNvPr id="15" name="Shape 13"/>
              <p:cNvSpPr/>
              <p:nvPr/>
            </p:nvSpPr>
            <p:spPr>
              <a:xfrm>
                <a:off x="1097280" y="4434840"/>
                <a:ext cx="566928" cy="566928"/>
              </a:xfrm>
              <a:prstGeom prst="ellipse">
                <a:avLst/>
              </a:prstGeom>
              <a:solidFill>
                <a:srgbClr val="2E9E6D"/>
              </a:solidFill>
              <a:ln/>
            </p:spPr>
          </p:sp>
          <p:sp>
            <p:nvSpPr>
              <p:cNvPr id="16" name="Text 14"/>
              <p:cNvSpPr/>
              <p:nvPr/>
            </p:nvSpPr>
            <p:spPr>
              <a:xfrm>
                <a:off x="1097280" y="4434840"/>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17" name="Text 15"/>
              <p:cNvSpPr/>
              <p:nvPr/>
            </p:nvSpPr>
            <p:spPr>
              <a:xfrm>
                <a:off x="1792514" y="4501751"/>
                <a:ext cx="3844108" cy="411480"/>
              </a:xfrm>
              <a:prstGeom prst="rect">
                <a:avLst/>
              </a:prstGeom>
              <a:noFill/>
              <a:ln>
                <a:noFill/>
              </a:ln>
            </p:spPr>
            <p:style>
              <a:lnRef idx="2">
                <a:schemeClr val="dk1"/>
              </a:lnRef>
              <a:fillRef idx="1">
                <a:schemeClr val="lt1"/>
              </a:fillRef>
              <a:effectRef idx="0">
                <a:schemeClr val="dk1"/>
              </a:effectRef>
              <a:fontRef idx="minor">
                <a:schemeClr val="dk1"/>
              </a:fontRef>
            </p:style>
            <p:txBody>
              <a:bodyPr wrap="square" lIns="0" tIns="0" rIns="0" bIns="0" rtlCol="0" anchor="ctr"/>
              <a:lstStyle/>
              <a:p>
                <a:pPr marL="0" indent="0">
                  <a:buNone/>
                </a:pPr>
                <a:r>
                  <a:rPr lang="en-US" sz="2000" b="1" dirty="0">
                    <a:solidFill>
                      <a:srgbClr val="1A1A2E"/>
                    </a:solidFill>
                    <a:latin typeface="Cambria"/>
                    <a:ea typeface="Cambria"/>
                    <a:cs typeface="Cambria" pitchFamily="34" charset="-120"/>
                  </a:rPr>
                  <a:t>Recommended Actions</a:t>
                </a:r>
                <a:endParaRPr lang="en-US" sz="2000">
                  <a:latin typeface="Cambria"/>
                  <a:ea typeface="Cambria"/>
                  <a:cs typeface="Calibri"/>
                </a:endParaRPr>
              </a:p>
            </p:txBody>
          </p:sp>
          <p:sp>
            <p:nvSpPr>
              <p:cNvPr id="18" name="Text 16"/>
              <p:cNvSpPr/>
              <p:nvPr/>
            </p:nvSpPr>
            <p:spPr>
              <a:xfrm>
                <a:off x="1364344" y="4820775"/>
                <a:ext cx="4481284" cy="1104537"/>
              </a:xfrm>
              <a:prstGeom prst="rect">
                <a:avLst/>
              </a:prstGeom>
              <a:noFill/>
              <a:ln/>
            </p:spPr>
            <p:txBody>
              <a:bodyPr wrap="square" lIns="0" tIns="0" rIns="0" bIns="0" rtlCol="0" anchor="ctr"/>
              <a:lstStyle/>
              <a:p>
                <a:pPr marL="0" indent="0">
                  <a:lnSpc>
                    <a:spcPct val="125000"/>
                  </a:lnSpc>
                  <a:buNone/>
                </a:pPr>
                <a:r>
                  <a:rPr lang="en-US" sz="1600" b="1" dirty="0">
                    <a:solidFill>
                      <a:srgbClr val="6B7280"/>
                    </a:solidFill>
                    <a:latin typeface="Calibri"/>
                    <a:ea typeface="Calibri"/>
                    <a:cs typeface="Calibri"/>
                  </a:rPr>
                  <a:t>Ranked next steps — from a reminder email to a deposit request — matched to the risk level.</a:t>
                </a:r>
                <a:endParaRPr lang="en-US" sz="1600" b="1">
                  <a:latin typeface="Calibri"/>
                  <a:ea typeface="Calibri"/>
                  <a:cs typeface="Calibri"/>
                </a:endParaRPr>
              </a:p>
            </p:txBody>
          </p:sp>
          <p:sp>
            <p:nvSpPr>
              <p:cNvPr id="19" name="Shape 17"/>
              <p:cNvSpPr/>
              <p:nvPr/>
            </p:nvSpPr>
            <p:spPr>
              <a:xfrm>
                <a:off x="6217920" y="4114800"/>
                <a:ext cx="5074920" cy="1965960"/>
              </a:xfrm>
              <a:prstGeom prst="roundRect">
                <a:avLst>
                  <a:gd name="adj" fmla="val 4651"/>
                </a:avLst>
              </a:prstGeom>
              <a:solidFill>
                <a:srgbClr val="FFFFFF"/>
              </a:solidFill>
              <a:ln w="12700">
                <a:solidFill>
                  <a:srgbClr val="E5E7EB"/>
                </a:solidFill>
                <a:prstDash val="solid"/>
              </a:ln>
              <a:effectLst>
                <a:outerShdw blurRad="76200" dist="25400" dir="5400000" algn="bl" rotWithShape="0">
                  <a:srgbClr val="000000">
                    <a:alpha val="7000"/>
                  </a:srgbClr>
                </a:outerShdw>
              </a:effectLst>
            </p:spPr>
          </p:sp>
          <p:sp>
            <p:nvSpPr>
              <p:cNvPr id="20" name="Shape 18"/>
              <p:cNvSpPr/>
              <p:nvPr/>
            </p:nvSpPr>
            <p:spPr>
              <a:xfrm>
                <a:off x="6492240" y="4434840"/>
                <a:ext cx="566928" cy="566928"/>
              </a:xfrm>
              <a:prstGeom prst="ellipse">
                <a:avLst/>
              </a:prstGeom>
              <a:solidFill>
                <a:srgbClr val="E24B4A"/>
              </a:solidFill>
              <a:ln/>
            </p:spPr>
          </p:sp>
          <p:sp>
            <p:nvSpPr>
              <p:cNvPr id="21" name="Text 19"/>
              <p:cNvSpPr/>
              <p:nvPr/>
            </p:nvSpPr>
            <p:spPr>
              <a:xfrm>
                <a:off x="6492240" y="4434840"/>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22" name="Text 20"/>
              <p:cNvSpPr/>
              <p:nvPr/>
            </p:nvSpPr>
            <p:spPr>
              <a:xfrm>
                <a:off x="7194731" y="4494494"/>
                <a:ext cx="3886200" cy="411480"/>
              </a:xfrm>
              <a:prstGeom prst="rect">
                <a:avLst/>
              </a:prstGeom>
              <a:noFill/>
              <a:ln/>
            </p:spPr>
            <p:txBody>
              <a:bodyPr wrap="square" lIns="0" tIns="0" rIns="0" bIns="0" rtlCol="0" anchor="ctr"/>
              <a:lstStyle/>
              <a:p>
                <a:pPr marL="0" indent="0">
                  <a:buNone/>
                </a:pPr>
                <a:r>
                  <a:rPr lang="en-US" sz="2000" b="1" dirty="0">
                    <a:solidFill>
                      <a:srgbClr val="1A1A2E"/>
                    </a:solidFill>
                    <a:latin typeface="Cambria"/>
                    <a:ea typeface="Cambria"/>
                    <a:cs typeface="Cambria" pitchFamily="34" charset="-120"/>
                  </a:rPr>
                  <a:t>Financial Impact View</a:t>
                </a:r>
                <a:endParaRPr lang="en-US" sz="2000">
                  <a:latin typeface="Cambria"/>
                  <a:ea typeface="Cambria"/>
                  <a:cs typeface="Calibri"/>
                </a:endParaRPr>
              </a:p>
            </p:txBody>
          </p:sp>
          <p:sp>
            <p:nvSpPr>
              <p:cNvPr id="23" name="Text 21"/>
              <p:cNvSpPr/>
              <p:nvPr/>
            </p:nvSpPr>
            <p:spPr>
              <a:xfrm>
                <a:off x="6875417" y="4857061"/>
                <a:ext cx="4212771" cy="1104537"/>
              </a:xfrm>
              <a:prstGeom prst="rect">
                <a:avLst/>
              </a:prstGeom>
              <a:noFill/>
              <a:ln/>
            </p:spPr>
            <p:txBody>
              <a:bodyPr wrap="square" lIns="0" tIns="0" rIns="0" bIns="0" rtlCol="0" anchor="ctr"/>
              <a:lstStyle/>
              <a:p>
                <a:pPr marL="0" indent="0">
                  <a:lnSpc>
                    <a:spcPct val="125000"/>
                  </a:lnSpc>
                  <a:buNone/>
                </a:pPr>
                <a:r>
                  <a:rPr lang="en-US" b="1" dirty="0">
                    <a:solidFill>
                      <a:srgbClr val="6B7280"/>
                    </a:solidFill>
                    <a:latin typeface="Calibri"/>
                    <a:ea typeface="Calibri"/>
                    <a:cs typeface="Calibri"/>
                  </a:rPr>
                  <a:t>Revenue at risk, and the payoff of intervening, laid out before a single action is taken.</a:t>
                </a:r>
                <a:endParaRPr lang="en-US" b="1">
                  <a:latin typeface="Calibri"/>
                  <a:ea typeface="Calibri"/>
                  <a:cs typeface="Calibri"/>
                </a:endParaRPr>
              </a:p>
            </p:txBody>
          </p:sp>
        </p:grpSp>
        <p:sp>
          <p:nvSpPr>
            <p:cNvPr id="27" name="TextBox 26">
              <a:extLst>
                <a:ext uri="{FF2B5EF4-FFF2-40B4-BE49-F238E27FC236}">
                  <a16:creationId xmlns:a16="http://schemas.microsoft.com/office/drawing/2014/main" id="{CD1EA4C3-9B01-32F5-DC37-4AB932F6869E}"/>
                </a:ext>
              </a:extLst>
            </p:cNvPr>
            <p:cNvSpPr txBox="1"/>
            <p:nvPr/>
          </p:nvSpPr>
          <p:spPr>
            <a:xfrm>
              <a:off x="3993408" y="1446150"/>
              <a:ext cx="737325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ea typeface="Calibri"/>
                  <a:cs typeface="Calibri"/>
                  <a:hlinkClick r:id="rId3"/>
                </a:rPr>
                <a:t>https://hotel-cancellation-prediction-7cn3s7u84sjrjkhcgki4r4.streamlit.app/</a:t>
              </a:r>
              <a:endParaRPr lang="en-US">
                <a:ea typeface="Calibri"/>
                <a:cs typeface="Calibri"/>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22960" y="502920"/>
            <a:ext cx="7315200" cy="365760"/>
          </a:xfrm>
          <a:prstGeom prst="rect">
            <a:avLst/>
          </a:prstGeom>
          <a:noFill/>
          <a:ln/>
        </p:spPr>
        <p:txBody>
          <a:bodyPr wrap="square" lIns="0" tIns="0" rIns="0" bIns="0" rtlCol="0" anchor="ctr"/>
          <a:lstStyle/>
          <a:p>
            <a:pPr marL="0" indent="0">
              <a:buNone/>
            </a:pPr>
            <a:r>
              <a:rPr lang="en-US" sz="2000" b="1" kern="0" spc="200" dirty="0">
                <a:solidFill>
                  <a:srgbClr val="2E9E6D"/>
                </a:solidFill>
                <a:latin typeface="Calibri"/>
                <a:ea typeface="Calibri"/>
                <a:cs typeface="Calibri"/>
              </a:rPr>
              <a:t>RECOMMENDATIONS</a:t>
            </a:r>
            <a:endParaRPr lang="en-US" sz="2000">
              <a:latin typeface="Calibri"/>
              <a:ea typeface="Calibri"/>
              <a:cs typeface="Calibri"/>
            </a:endParaRPr>
          </a:p>
        </p:txBody>
      </p:sp>
      <p:sp>
        <p:nvSpPr>
          <p:cNvPr id="3" name="Text 1"/>
          <p:cNvSpPr/>
          <p:nvPr/>
        </p:nvSpPr>
        <p:spPr>
          <a:xfrm>
            <a:off x="822960" y="868680"/>
            <a:ext cx="10332720" cy="731520"/>
          </a:xfrm>
          <a:prstGeom prst="rect">
            <a:avLst/>
          </a:prstGeom>
          <a:noFill/>
          <a:ln/>
        </p:spPr>
        <p:txBody>
          <a:bodyPr wrap="square" lIns="0" tIns="0" rIns="0" bIns="0" rtlCol="0" anchor="ctr"/>
          <a:lstStyle/>
          <a:p>
            <a:pPr marL="0" indent="0">
              <a:buNone/>
            </a:pPr>
            <a:r>
              <a:rPr lang="en-US" sz="2700" b="1" dirty="0">
                <a:solidFill>
                  <a:srgbClr val="1A1A2E"/>
                </a:solidFill>
                <a:latin typeface="Cambria" pitchFamily="34" charset="0"/>
                <a:ea typeface="Cambria" pitchFamily="34" charset="-122"/>
                <a:cs typeface="Cambria" pitchFamily="34" charset="-120"/>
              </a:rPr>
              <a:t>What the hotel should actually do with this.</a:t>
            </a:r>
            <a:endParaRPr lang="en-US" sz="2700" dirty="0"/>
          </a:p>
        </p:txBody>
      </p:sp>
      <p:sp>
        <p:nvSpPr>
          <p:cNvPr id="4" name="Shape 2"/>
          <p:cNvSpPr/>
          <p:nvPr/>
        </p:nvSpPr>
        <p:spPr>
          <a:xfrm>
            <a:off x="822960" y="1874520"/>
            <a:ext cx="10515600" cy="960120"/>
          </a:xfrm>
          <a:prstGeom prst="roundRect">
            <a:avLst>
              <a:gd name="adj" fmla="val 9524"/>
            </a:avLst>
          </a:prstGeom>
          <a:solidFill>
            <a:srgbClr val="FFFFFF"/>
          </a:solidFill>
          <a:ln w="12700">
            <a:solidFill>
              <a:srgbClr val="E5E7EB"/>
            </a:solidFill>
            <a:prstDash val="solid"/>
          </a:ln>
          <a:effectLst>
            <a:outerShdw blurRad="63500" dist="25400" dir="5400000" algn="bl" rotWithShape="0">
              <a:srgbClr val="000000">
                <a:alpha val="6000"/>
              </a:srgbClr>
            </a:outerShdw>
          </a:effectLst>
        </p:spPr>
      </p:sp>
      <p:sp>
        <p:nvSpPr>
          <p:cNvPr id="5" name="Shape 3"/>
          <p:cNvSpPr/>
          <p:nvPr/>
        </p:nvSpPr>
        <p:spPr>
          <a:xfrm>
            <a:off x="1051560" y="2103120"/>
            <a:ext cx="502920" cy="502920"/>
          </a:xfrm>
          <a:prstGeom prst="roundRect">
            <a:avLst>
              <a:gd name="adj" fmla="val 50909"/>
            </a:avLst>
          </a:prstGeom>
          <a:solidFill>
            <a:srgbClr val="E24B4A"/>
          </a:solidFill>
          <a:ln/>
        </p:spPr>
      </p:sp>
      <p:sp>
        <p:nvSpPr>
          <p:cNvPr id="6" name="Text 4"/>
          <p:cNvSpPr/>
          <p:nvPr/>
        </p:nvSpPr>
        <p:spPr>
          <a:xfrm>
            <a:off x="1051560" y="210312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7" name="Text 5"/>
          <p:cNvSpPr/>
          <p:nvPr/>
        </p:nvSpPr>
        <p:spPr>
          <a:xfrm>
            <a:off x="1625600" y="1994989"/>
            <a:ext cx="9235440" cy="365760"/>
          </a:xfrm>
          <a:prstGeom prst="rect">
            <a:avLst/>
          </a:prstGeom>
          <a:noFill/>
          <a:ln/>
        </p:spPr>
        <p:txBody>
          <a:bodyPr wrap="square" lIns="0" tIns="0" rIns="0" bIns="0" rtlCol="0" anchor="ctr"/>
          <a:lstStyle/>
          <a:p>
            <a:pPr marL="0" indent="0">
              <a:buNone/>
            </a:pPr>
            <a:r>
              <a:rPr lang="en-US" sz="1600" b="1" dirty="0">
                <a:solidFill>
                  <a:srgbClr val="1A1A2E"/>
                </a:solidFill>
                <a:latin typeface="Cambria"/>
                <a:ea typeface="Cambria"/>
                <a:cs typeface="Cambria" pitchFamily="34" charset="-120"/>
              </a:rPr>
              <a:t>Watch long-lead bookings closely</a:t>
            </a:r>
            <a:endParaRPr lang="en-US" sz="1600">
              <a:latin typeface="Cambria"/>
              <a:ea typeface="Cambria"/>
              <a:cs typeface="Calibri"/>
            </a:endParaRPr>
          </a:p>
        </p:txBody>
      </p:sp>
      <p:sp>
        <p:nvSpPr>
          <p:cNvPr id="8" name="Text 6"/>
          <p:cNvSpPr/>
          <p:nvPr/>
        </p:nvSpPr>
        <p:spPr>
          <a:xfrm>
            <a:off x="1632858" y="2349717"/>
            <a:ext cx="9511210" cy="488406"/>
          </a:xfrm>
          <a:prstGeom prst="rect">
            <a:avLst/>
          </a:prstGeom>
          <a:noFill/>
          <a:ln/>
        </p:spPr>
        <p:txBody>
          <a:bodyPr wrap="square" lIns="0" tIns="0" rIns="0" bIns="0" rtlCol="0" anchor="ctr"/>
          <a:lstStyle/>
          <a:p>
            <a:pPr marL="0" indent="0">
              <a:lnSpc>
                <a:spcPct val="115000"/>
              </a:lnSpc>
              <a:buNone/>
            </a:pPr>
            <a:r>
              <a:rPr lang="en-US" sz="1600" b="1" dirty="0">
                <a:solidFill>
                  <a:srgbClr val="6B7280"/>
                </a:solidFill>
                <a:latin typeface="Calibri"/>
                <a:ea typeface="Calibri"/>
                <a:cs typeface="Calibri"/>
              </a:rPr>
              <a:t>Send a confirmation reminder or request a deposit for reservations made far in advance — the single biggest risk factor.</a:t>
            </a:r>
            <a:endParaRPr lang="en-US" sz="1600" b="1">
              <a:latin typeface="Calibri"/>
              <a:ea typeface="Calibri"/>
              <a:cs typeface="Calibri"/>
            </a:endParaRPr>
          </a:p>
        </p:txBody>
      </p:sp>
      <p:sp>
        <p:nvSpPr>
          <p:cNvPr id="9" name="Shape 7"/>
          <p:cNvSpPr/>
          <p:nvPr/>
        </p:nvSpPr>
        <p:spPr>
          <a:xfrm>
            <a:off x="822960" y="2971800"/>
            <a:ext cx="10515600" cy="960120"/>
          </a:xfrm>
          <a:prstGeom prst="roundRect">
            <a:avLst>
              <a:gd name="adj" fmla="val 9524"/>
            </a:avLst>
          </a:prstGeom>
          <a:solidFill>
            <a:srgbClr val="FFFFFF"/>
          </a:solidFill>
          <a:ln w="12700">
            <a:solidFill>
              <a:srgbClr val="E5E7EB"/>
            </a:solidFill>
            <a:prstDash val="solid"/>
          </a:ln>
          <a:effectLst>
            <a:outerShdw blurRad="63500" dist="25400" dir="5400000" algn="bl" rotWithShape="0">
              <a:srgbClr val="000000">
                <a:alpha val="6000"/>
              </a:srgbClr>
            </a:outerShdw>
          </a:effectLst>
        </p:spPr>
      </p:sp>
      <p:sp>
        <p:nvSpPr>
          <p:cNvPr id="10" name="Shape 8"/>
          <p:cNvSpPr/>
          <p:nvPr/>
        </p:nvSpPr>
        <p:spPr>
          <a:xfrm>
            <a:off x="1051560" y="3200400"/>
            <a:ext cx="502920" cy="502920"/>
          </a:xfrm>
          <a:prstGeom prst="roundRect">
            <a:avLst>
              <a:gd name="adj" fmla="val 50909"/>
            </a:avLst>
          </a:prstGeom>
          <a:solidFill>
            <a:srgbClr val="1C7293"/>
          </a:solidFill>
          <a:ln/>
        </p:spPr>
      </p:sp>
      <p:sp>
        <p:nvSpPr>
          <p:cNvPr id="11" name="Text 9"/>
          <p:cNvSpPr/>
          <p:nvPr/>
        </p:nvSpPr>
        <p:spPr>
          <a:xfrm>
            <a:off x="1051560" y="320040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2" name="Text 10"/>
          <p:cNvSpPr/>
          <p:nvPr/>
        </p:nvSpPr>
        <p:spPr>
          <a:xfrm>
            <a:off x="1640114" y="3157583"/>
            <a:ext cx="9235440" cy="365760"/>
          </a:xfrm>
          <a:prstGeom prst="rect">
            <a:avLst/>
          </a:prstGeom>
          <a:noFill/>
          <a:ln/>
        </p:spPr>
        <p:txBody>
          <a:bodyPr wrap="square" lIns="0" tIns="0" rIns="0" bIns="0" rtlCol="0" anchor="ctr"/>
          <a:lstStyle/>
          <a:p>
            <a:pPr marL="0" indent="0">
              <a:buNone/>
            </a:pPr>
            <a:r>
              <a:rPr lang="en-US" sz="1600" b="1" dirty="0">
                <a:solidFill>
                  <a:srgbClr val="1A1A2E"/>
                </a:solidFill>
                <a:latin typeface="Cambria"/>
                <a:ea typeface="Cambria"/>
                <a:cs typeface="Cambria" pitchFamily="34" charset="-120"/>
              </a:rPr>
              <a:t>Add friction to online bookings</a:t>
            </a:r>
            <a:endParaRPr lang="en-US" sz="1600">
              <a:latin typeface="Cambria"/>
              <a:ea typeface="Cambria"/>
              <a:cs typeface="Calibri"/>
            </a:endParaRPr>
          </a:p>
        </p:txBody>
      </p:sp>
      <p:sp>
        <p:nvSpPr>
          <p:cNvPr id="13" name="Text 11"/>
          <p:cNvSpPr/>
          <p:nvPr/>
        </p:nvSpPr>
        <p:spPr>
          <a:xfrm>
            <a:off x="1625600" y="3425226"/>
            <a:ext cx="9438640" cy="502920"/>
          </a:xfrm>
          <a:prstGeom prst="rect">
            <a:avLst/>
          </a:prstGeom>
          <a:noFill/>
          <a:ln/>
        </p:spPr>
        <p:txBody>
          <a:bodyPr wrap="square" lIns="0" tIns="0" rIns="0" bIns="0" rtlCol="0" anchor="ctr"/>
          <a:lstStyle/>
          <a:p>
            <a:pPr marL="0" indent="0">
              <a:lnSpc>
                <a:spcPct val="115000"/>
              </a:lnSpc>
              <a:buNone/>
            </a:pPr>
            <a:r>
              <a:rPr lang="en-US" sz="1600" b="1" dirty="0">
                <a:solidFill>
                  <a:srgbClr val="6B7280"/>
                </a:solidFill>
                <a:latin typeface="Calibri"/>
                <a:ea typeface="Calibri"/>
                <a:cs typeface="Calibri"/>
              </a:rPr>
              <a:t>Card verification or a rate-locked non-refundable option for online channels, where cancellations run highest.</a:t>
            </a:r>
            <a:endParaRPr lang="en-US" sz="1600" b="1">
              <a:latin typeface="Calibri"/>
              <a:ea typeface="Calibri"/>
              <a:cs typeface="Calibri"/>
            </a:endParaRPr>
          </a:p>
        </p:txBody>
      </p:sp>
      <p:sp>
        <p:nvSpPr>
          <p:cNvPr id="14" name="Shape 12"/>
          <p:cNvSpPr/>
          <p:nvPr/>
        </p:nvSpPr>
        <p:spPr>
          <a:xfrm>
            <a:off x="822960" y="4069080"/>
            <a:ext cx="10515600" cy="960120"/>
          </a:xfrm>
          <a:prstGeom prst="roundRect">
            <a:avLst>
              <a:gd name="adj" fmla="val 9524"/>
            </a:avLst>
          </a:prstGeom>
          <a:solidFill>
            <a:srgbClr val="FFFFFF"/>
          </a:solidFill>
          <a:ln w="12700">
            <a:solidFill>
              <a:srgbClr val="E5E7EB"/>
            </a:solidFill>
            <a:prstDash val="solid"/>
          </a:ln>
          <a:effectLst>
            <a:outerShdw blurRad="63500" dist="25400" dir="5400000" algn="bl" rotWithShape="0">
              <a:srgbClr val="000000">
                <a:alpha val="6000"/>
              </a:srgbClr>
            </a:outerShdw>
          </a:effectLst>
        </p:spPr>
      </p:sp>
      <p:sp>
        <p:nvSpPr>
          <p:cNvPr id="15" name="Shape 13"/>
          <p:cNvSpPr/>
          <p:nvPr/>
        </p:nvSpPr>
        <p:spPr>
          <a:xfrm>
            <a:off x="1051560" y="4297680"/>
            <a:ext cx="502920" cy="502920"/>
          </a:xfrm>
          <a:prstGeom prst="roundRect">
            <a:avLst>
              <a:gd name="adj" fmla="val 50909"/>
            </a:avLst>
          </a:prstGeom>
          <a:solidFill>
            <a:srgbClr val="2E9E6D"/>
          </a:solidFill>
          <a:ln/>
        </p:spPr>
      </p:sp>
      <p:sp>
        <p:nvSpPr>
          <p:cNvPr id="16" name="Text 14"/>
          <p:cNvSpPr/>
          <p:nvPr/>
        </p:nvSpPr>
        <p:spPr>
          <a:xfrm>
            <a:off x="1051560" y="429768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7" name="Text 15"/>
          <p:cNvSpPr/>
          <p:nvPr/>
        </p:nvSpPr>
        <p:spPr>
          <a:xfrm>
            <a:off x="1654629" y="4182291"/>
            <a:ext cx="9235440" cy="365760"/>
          </a:xfrm>
          <a:prstGeom prst="rect">
            <a:avLst/>
          </a:prstGeom>
          <a:noFill/>
          <a:ln/>
        </p:spPr>
        <p:txBody>
          <a:bodyPr wrap="square" lIns="0" tIns="0" rIns="0" bIns="0" rtlCol="0" anchor="ctr"/>
          <a:lstStyle/>
          <a:p>
            <a:pPr marL="0" indent="0">
              <a:buNone/>
            </a:pPr>
            <a:r>
              <a:rPr lang="en-US" sz="1600" b="1" dirty="0">
                <a:solidFill>
                  <a:srgbClr val="1A1A2E"/>
                </a:solidFill>
                <a:latin typeface="Cambria"/>
                <a:ea typeface="Cambria"/>
                <a:cs typeface="Cambria" pitchFamily="34" charset="-120"/>
              </a:rPr>
              <a:t>Reward commitment signals</a:t>
            </a:r>
            <a:endParaRPr lang="en-US" sz="1600">
              <a:latin typeface="Cambria"/>
              <a:ea typeface="Cambria"/>
              <a:cs typeface="Calibri"/>
            </a:endParaRPr>
          </a:p>
        </p:txBody>
      </p:sp>
      <p:sp>
        <p:nvSpPr>
          <p:cNvPr id="18" name="Text 16"/>
          <p:cNvSpPr/>
          <p:nvPr/>
        </p:nvSpPr>
        <p:spPr>
          <a:xfrm>
            <a:off x="1632857" y="4529763"/>
            <a:ext cx="9235440" cy="502920"/>
          </a:xfrm>
          <a:prstGeom prst="rect">
            <a:avLst/>
          </a:prstGeom>
          <a:noFill/>
          <a:ln/>
        </p:spPr>
        <p:txBody>
          <a:bodyPr wrap="square" lIns="0" tIns="0" rIns="0" bIns="0" rtlCol="0" anchor="ctr"/>
          <a:lstStyle/>
          <a:p>
            <a:pPr marL="0" indent="0">
              <a:lnSpc>
                <a:spcPct val="115000"/>
              </a:lnSpc>
              <a:buNone/>
            </a:pPr>
            <a:r>
              <a:rPr lang="en-US" sz="1600" b="1" dirty="0">
                <a:solidFill>
                  <a:srgbClr val="6B7280"/>
                </a:solidFill>
                <a:latin typeface="Calibri"/>
                <a:ea typeface="Calibri"/>
                <a:cs typeface="Calibri"/>
              </a:rPr>
              <a:t>Guests who make special requests or have stayed before cancel far less — prioritize them lower for follow-up.</a:t>
            </a:r>
            <a:endParaRPr lang="en-US" sz="1600" b="1">
              <a:latin typeface="Calibri"/>
              <a:ea typeface="Calibri"/>
              <a:cs typeface="Calibri"/>
            </a:endParaRPr>
          </a:p>
        </p:txBody>
      </p:sp>
      <p:sp>
        <p:nvSpPr>
          <p:cNvPr id="19" name="Shape 17"/>
          <p:cNvSpPr/>
          <p:nvPr/>
        </p:nvSpPr>
        <p:spPr>
          <a:xfrm>
            <a:off x="822960" y="5166360"/>
            <a:ext cx="10515600" cy="960120"/>
          </a:xfrm>
          <a:prstGeom prst="roundRect">
            <a:avLst>
              <a:gd name="adj" fmla="val 9524"/>
            </a:avLst>
          </a:prstGeom>
          <a:solidFill>
            <a:srgbClr val="FFFFFF"/>
          </a:solidFill>
          <a:ln w="12700">
            <a:solidFill>
              <a:srgbClr val="E5E7EB"/>
            </a:solidFill>
            <a:prstDash val="solid"/>
          </a:ln>
          <a:effectLst>
            <a:outerShdw blurRad="63500" dist="25400" dir="5400000" algn="bl" rotWithShape="0">
              <a:srgbClr val="000000">
                <a:alpha val="6000"/>
              </a:srgbClr>
            </a:outerShdw>
          </a:effectLst>
        </p:spPr>
      </p:sp>
      <p:sp>
        <p:nvSpPr>
          <p:cNvPr id="20" name="Shape 18"/>
          <p:cNvSpPr/>
          <p:nvPr/>
        </p:nvSpPr>
        <p:spPr>
          <a:xfrm>
            <a:off x="1051560" y="5394960"/>
            <a:ext cx="502920" cy="502920"/>
          </a:xfrm>
          <a:prstGeom prst="roundRect">
            <a:avLst>
              <a:gd name="adj" fmla="val 50909"/>
            </a:avLst>
          </a:prstGeom>
          <a:solidFill>
            <a:srgbClr val="0F172A"/>
          </a:solidFill>
          <a:ln/>
        </p:spPr>
      </p:sp>
      <p:sp>
        <p:nvSpPr>
          <p:cNvPr id="21" name="Text 19"/>
          <p:cNvSpPr/>
          <p:nvPr/>
        </p:nvSpPr>
        <p:spPr>
          <a:xfrm>
            <a:off x="1051560" y="539496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22" name="Text 20"/>
          <p:cNvSpPr/>
          <p:nvPr/>
        </p:nvSpPr>
        <p:spPr>
          <a:xfrm>
            <a:off x="1669143" y="5315857"/>
            <a:ext cx="9235440" cy="365760"/>
          </a:xfrm>
          <a:prstGeom prst="rect">
            <a:avLst/>
          </a:prstGeom>
          <a:noFill/>
          <a:ln/>
        </p:spPr>
        <p:txBody>
          <a:bodyPr wrap="square" lIns="0" tIns="0" rIns="0" bIns="0" rtlCol="0" anchor="ctr"/>
          <a:lstStyle/>
          <a:p>
            <a:pPr marL="0" indent="0">
              <a:buNone/>
            </a:pPr>
            <a:r>
              <a:rPr lang="en-US" sz="1600" dirty="0">
                <a:solidFill>
                  <a:srgbClr val="1A1A2E"/>
                </a:solidFill>
                <a:latin typeface="Cambria"/>
                <a:ea typeface="Cambria"/>
                <a:cs typeface="Cambria" pitchFamily="34" charset="-120"/>
              </a:rPr>
              <a:t>Use the risk score to guide effort</a:t>
            </a:r>
            <a:endParaRPr lang="en-US" sz="1600">
              <a:latin typeface="Cambria"/>
              <a:ea typeface="Cambria"/>
              <a:cs typeface="Calibri"/>
            </a:endParaRPr>
          </a:p>
        </p:txBody>
      </p:sp>
      <p:sp>
        <p:nvSpPr>
          <p:cNvPr id="23" name="Text 21"/>
          <p:cNvSpPr/>
          <p:nvPr/>
        </p:nvSpPr>
        <p:spPr>
          <a:xfrm>
            <a:off x="1669143" y="5619786"/>
            <a:ext cx="9235440" cy="502920"/>
          </a:xfrm>
          <a:prstGeom prst="rect">
            <a:avLst/>
          </a:prstGeom>
          <a:noFill/>
          <a:ln/>
        </p:spPr>
        <p:txBody>
          <a:bodyPr wrap="square" lIns="0" tIns="0" rIns="0" bIns="0" rtlCol="0" anchor="ctr"/>
          <a:lstStyle/>
          <a:p>
            <a:pPr marL="0" indent="0">
              <a:lnSpc>
                <a:spcPct val="115000"/>
              </a:lnSpc>
              <a:buNone/>
            </a:pPr>
            <a:r>
              <a:rPr lang="en-US" sz="1600" b="1" dirty="0">
                <a:solidFill>
                  <a:srgbClr val="6B7280"/>
                </a:solidFill>
                <a:latin typeface="Calibri"/>
                <a:ea typeface="Calibri"/>
                <a:cs typeface="Calibri"/>
              </a:rPr>
              <a:t>Focus staff time and incentives on the bookings the system flags as high-risk, not every booking equally.</a:t>
            </a:r>
            <a:endParaRPr lang="en-US" sz="1600" b="1">
              <a:latin typeface="Calibri"/>
              <a:ea typeface="Calibri"/>
              <a:cs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36576B70-7FF6-EE2F-D1EC-7F36200B3E52}"/>
              </a:ext>
            </a:extLst>
          </p:cNvPr>
          <p:cNvGrpSpPr/>
          <p:nvPr/>
        </p:nvGrpSpPr>
        <p:grpSpPr>
          <a:xfrm>
            <a:off x="822960" y="502920"/>
            <a:ext cx="10515600" cy="5532120"/>
            <a:chOff x="822960" y="502920"/>
            <a:chExt cx="10515600" cy="5532120"/>
          </a:xfrm>
        </p:grpSpPr>
        <p:sp>
          <p:nvSpPr>
            <p:cNvPr id="2" name="Text 0"/>
            <p:cNvSpPr/>
            <p:nvPr/>
          </p:nvSpPr>
          <p:spPr>
            <a:xfrm>
              <a:off x="822960" y="502920"/>
              <a:ext cx="7315200" cy="365760"/>
            </a:xfrm>
            <a:prstGeom prst="rect">
              <a:avLst/>
            </a:prstGeom>
            <a:noFill/>
            <a:ln/>
          </p:spPr>
          <p:txBody>
            <a:bodyPr wrap="square" lIns="0" tIns="0" rIns="0" bIns="0" rtlCol="0" anchor="ctr"/>
            <a:lstStyle/>
            <a:p>
              <a:pPr marL="0" indent="0">
                <a:buNone/>
              </a:pPr>
              <a:r>
                <a:rPr lang="en-US" sz="2000" b="1" kern="0" spc="200" dirty="0">
                  <a:solidFill>
                    <a:srgbClr val="E24B4A"/>
                  </a:solidFill>
                  <a:latin typeface="Calibri"/>
                  <a:ea typeface="Calibri"/>
                  <a:cs typeface="Calibri"/>
                </a:rPr>
                <a:t>BUSINESS IMPACT</a:t>
              </a:r>
              <a:endParaRPr lang="en-US" sz="2000">
                <a:latin typeface="Calibri"/>
                <a:ea typeface="Calibri"/>
                <a:cs typeface="Calibri"/>
              </a:endParaRPr>
            </a:p>
          </p:txBody>
        </p:sp>
        <p:sp>
          <p:nvSpPr>
            <p:cNvPr id="3" name="Text 1"/>
            <p:cNvSpPr/>
            <p:nvPr/>
          </p:nvSpPr>
          <p:spPr>
            <a:xfrm>
              <a:off x="822960" y="868680"/>
              <a:ext cx="10332720" cy="1005840"/>
            </a:xfrm>
            <a:prstGeom prst="rect">
              <a:avLst/>
            </a:prstGeom>
            <a:noFill/>
            <a:ln/>
          </p:spPr>
          <p:txBody>
            <a:bodyPr wrap="square" lIns="0" tIns="0" rIns="0" bIns="0" rtlCol="0" anchor="ctr"/>
            <a:lstStyle/>
            <a:p>
              <a:pPr marL="0" indent="0">
                <a:lnSpc>
                  <a:spcPct val="115000"/>
                </a:lnSpc>
                <a:buNone/>
              </a:pPr>
              <a:r>
                <a:rPr lang="en-US" sz="2500" b="1" dirty="0">
                  <a:solidFill>
                    <a:srgbClr val="1A1A2E"/>
                  </a:solidFill>
                  <a:latin typeface="Cambria" pitchFamily="34" charset="0"/>
                  <a:ea typeface="Cambria" pitchFamily="34" charset="-122"/>
                  <a:cs typeface="Cambria" pitchFamily="34" charset="-120"/>
                </a:rPr>
                <a:t>A small intervention, applied at the right moment,</a:t>
              </a:r>
              <a:endParaRPr lang="en-US" sz="2500" dirty="0"/>
            </a:p>
            <a:p>
              <a:pPr marL="0" indent="0">
                <a:lnSpc>
                  <a:spcPct val="115000"/>
                </a:lnSpc>
                <a:buNone/>
              </a:pPr>
              <a:r>
                <a:rPr lang="en-US" sz="2500" b="1" dirty="0">
                  <a:solidFill>
                    <a:srgbClr val="1A1A2E"/>
                  </a:solidFill>
                  <a:latin typeface="Cambria" pitchFamily="34" charset="0"/>
                  <a:ea typeface="Cambria" pitchFamily="34" charset="-122"/>
                  <a:cs typeface="Cambria" pitchFamily="34" charset="-120"/>
                </a:rPr>
                <a:t>protects a lot of revenue.</a:t>
              </a:r>
              <a:endParaRPr lang="en-US" sz="2500" dirty="0"/>
            </a:p>
          </p:txBody>
        </p:sp>
        <p:sp>
          <p:nvSpPr>
            <p:cNvPr id="4" name="Shape 2"/>
            <p:cNvSpPr/>
            <p:nvPr/>
          </p:nvSpPr>
          <p:spPr>
            <a:xfrm>
              <a:off x="822960" y="2194560"/>
              <a:ext cx="5029200" cy="3840480"/>
            </a:xfrm>
            <a:prstGeom prst="roundRect">
              <a:avLst>
                <a:gd name="adj" fmla="val 2381"/>
              </a:avLst>
            </a:prstGeom>
            <a:solidFill>
              <a:srgbClr val="F7F9FB"/>
            </a:solidFill>
            <a:ln w="12700">
              <a:solidFill>
                <a:srgbClr val="E5E7EB"/>
              </a:solidFill>
              <a:prstDash val="solid"/>
            </a:ln>
          </p:spPr>
        </p:sp>
        <p:sp>
          <p:nvSpPr>
            <p:cNvPr id="5" name="Text 3"/>
            <p:cNvSpPr/>
            <p:nvPr/>
          </p:nvSpPr>
          <p:spPr>
            <a:xfrm>
              <a:off x="1097280" y="2423160"/>
              <a:ext cx="4572000" cy="365760"/>
            </a:xfrm>
            <a:prstGeom prst="rect">
              <a:avLst/>
            </a:prstGeom>
            <a:noFill/>
            <a:ln/>
          </p:spPr>
          <p:txBody>
            <a:bodyPr wrap="square" lIns="0" tIns="0" rIns="0" bIns="0" rtlCol="0" anchor="ctr"/>
            <a:lstStyle/>
            <a:p>
              <a:pPr marL="0" indent="0">
                <a:buNone/>
              </a:pPr>
              <a:r>
                <a:rPr lang="en-US" b="1" kern="0" spc="150" dirty="0">
                  <a:solidFill>
                    <a:srgbClr val="6B7280"/>
                  </a:solidFill>
                  <a:latin typeface="Calibri"/>
                  <a:ea typeface="Calibri"/>
                  <a:cs typeface="Calibri"/>
                </a:rPr>
                <a:t>WITHOUT EARLY WARNING</a:t>
              </a:r>
              <a:endParaRPr lang="en-US">
                <a:latin typeface="Calibri"/>
                <a:ea typeface="Calibri"/>
                <a:cs typeface="Calibri"/>
              </a:endParaRPr>
            </a:p>
          </p:txBody>
        </p:sp>
        <p:sp>
          <p:nvSpPr>
            <p:cNvPr id="6" name="Text 4"/>
            <p:cNvSpPr/>
            <p:nvPr/>
          </p:nvSpPr>
          <p:spPr>
            <a:xfrm>
              <a:off x="1097280" y="2798355"/>
              <a:ext cx="1429657" cy="1204685"/>
            </a:xfrm>
            <a:prstGeom prst="rect">
              <a:avLst/>
            </a:prstGeom>
            <a:noFill/>
            <a:ln/>
          </p:spPr>
          <p:txBody>
            <a:bodyPr wrap="square" lIns="0" tIns="0" rIns="0" bIns="0" rtlCol="0" anchor="ctr"/>
            <a:lstStyle/>
            <a:p>
              <a:pPr marL="0" indent="0" algn="ctr">
                <a:buNone/>
              </a:pPr>
              <a:r>
                <a:rPr lang="en-US" sz="4000" dirty="0">
                  <a:solidFill>
                    <a:srgbClr val="000000"/>
                  </a:solidFill>
                </a:rPr>
                <a:t>😕</a:t>
              </a:r>
              <a:endParaRPr lang="en-US" sz="4000" dirty="0"/>
            </a:p>
          </p:txBody>
        </p:sp>
        <p:sp>
          <p:nvSpPr>
            <p:cNvPr id="7" name="Text 5"/>
            <p:cNvSpPr/>
            <p:nvPr/>
          </p:nvSpPr>
          <p:spPr>
            <a:xfrm>
              <a:off x="1097280" y="3840480"/>
              <a:ext cx="4480560" cy="1463040"/>
            </a:xfrm>
            <a:prstGeom prst="rect">
              <a:avLst/>
            </a:prstGeom>
            <a:noFill/>
            <a:ln/>
          </p:spPr>
          <p:txBody>
            <a:bodyPr wrap="square" lIns="0" tIns="0" rIns="0" bIns="0" rtlCol="0" anchor="ctr"/>
            <a:lstStyle/>
            <a:p>
              <a:pPr marL="0" indent="0">
                <a:lnSpc>
                  <a:spcPct val="135000"/>
                </a:lnSpc>
                <a:buNone/>
              </a:pPr>
              <a:r>
                <a:rPr lang="en-US" b="1" dirty="0">
                  <a:solidFill>
                    <a:srgbClr val="1A1A2E"/>
                  </a:solidFill>
                  <a:latin typeface="Calibri"/>
                  <a:ea typeface="Calibri"/>
                  <a:cs typeface="Calibri"/>
                </a:rPr>
                <a:t>A high-value booking cancels without notice.</a:t>
              </a:r>
              <a:endParaRPr lang="en-US" b="1">
                <a:latin typeface="Calibri"/>
                <a:ea typeface="Calibri"/>
                <a:cs typeface="Calibri"/>
              </a:endParaRPr>
            </a:p>
            <a:p>
              <a:pPr marL="0" indent="0">
                <a:lnSpc>
                  <a:spcPct val="135000"/>
                </a:lnSpc>
                <a:buNone/>
              </a:pPr>
              <a:r>
                <a:rPr lang="en-US" b="1" dirty="0">
                  <a:solidFill>
                    <a:srgbClr val="1A1A2E"/>
                  </a:solidFill>
                  <a:latin typeface="Calibri"/>
                  <a:ea typeface="Calibri"/>
                  <a:cs typeface="Calibri"/>
                </a:rPr>
                <a:t>The room sits empty. Revenue is gone,</a:t>
              </a:r>
              <a:endParaRPr lang="en-US" b="1">
                <a:latin typeface="Calibri"/>
                <a:ea typeface="Calibri"/>
                <a:cs typeface="Calibri"/>
              </a:endParaRPr>
            </a:p>
            <a:p>
              <a:pPr marL="0" indent="0">
                <a:lnSpc>
                  <a:spcPct val="135000"/>
                </a:lnSpc>
                <a:buNone/>
              </a:pPr>
              <a:r>
                <a:rPr lang="en-US" b="1" dirty="0">
                  <a:solidFill>
                    <a:srgbClr val="1A1A2E"/>
                  </a:solidFill>
                  <a:latin typeface="Calibri"/>
                  <a:ea typeface="Calibri"/>
                  <a:cs typeface="Calibri"/>
                </a:rPr>
                <a:t>and there was no chance to react.</a:t>
              </a:r>
              <a:endParaRPr lang="en-US" b="1">
                <a:latin typeface="Calibri"/>
                <a:ea typeface="Calibri"/>
                <a:cs typeface="Calibri"/>
              </a:endParaRPr>
            </a:p>
          </p:txBody>
        </p:sp>
        <p:sp>
          <p:nvSpPr>
            <p:cNvPr id="8" name="Shape 6"/>
            <p:cNvSpPr/>
            <p:nvPr/>
          </p:nvSpPr>
          <p:spPr>
            <a:xfrm>
              <a:off x="6309360" y="2194560"/>
              <a:ext cx="5029200" cy="3840480"/>
            </a:xfrm>
            <a:prstGeom prst="roundRect">
              <a:avLst>
                <a:gd name="adj" fmla="val 2381"/>
              </a:avLst>
            </a:prstGeom>
            <a:solidFill>
              <a:srgbClr val="0F172A"/>
            </a:solidFill>
            <a:ln/>
          </p:spPr>
        </p:sp>
        <p:sp>
          <p:nvSpPr>
            <p:cNvPr id="9" name="Text 7"/>
            <p:cNvSpPr/>
            <p:nvPr/>
          </p:nvSpPr>
          <p:spPr>
            <a:xfrm>
              <a:off x="6583680" y="2423160"/>
              <a:ext cx="4572000" cy="365760"/>
            </a:xfrm>
            <a:prstGeom prst="rect">
              <a:avLst/>
            </a:prstGeom>
            <a:noFill/>
            <a:ln/>
          </p:spPr>
          <p:txBody>
            <a:bodyPr wrap="square" lIns="0" tIns="0" rIns="0" bIns="0" rtlCol="0" anchor="ctr"/>
            <a:lstStyle/>
            <a:p>
              <a:r>
                <a:rPr lang="en-US" sz="2000" b="1" kern="0" spc="150">
                  <a:solidFill>
                    <a:srgbClr val="2E9E6D"/>
                  </a:solidFill>
                  <a:latin typeface="Calibri"/>
                  <a:ea typeface="Calibri"/>
                  <a:cs typeface="Calibri"/>
                </a:rPr>
                <a:t>WITH </a:t>
              </a:r>
              <a:r>
                <a:rPr lang="en-US" sz="2000" b="1" kern="0" spc="150" err="1">
                  <a:solidFill>
                    <a:srgbClr val="2E9E6D"/>
                  </a:solidFill>
                  <a:ea typeface="+mn-lt"/>
                  <a:cs typeface="+mn-lt"/>
                </a:rPr>
                <a:t>StayCertain</a:t>
              </a:r>
              <a:r>
                <a:rPr lang="en-US" sz="2000" kern="0" spc="150" dirty="0">
                  <a:solidFill>
                    <a:srgbClr val="2E9E6D"/>
                  </a:solidFill>
                  <a:ea typeface="+mn-lt"/>
                  <a:cs typeface="+mn-lt"/>
                </a:rPr>
                <a:t> </a:t>
              </a:r>
              <a:endParaRPr lang="en-US" sz="2000">
                <a:ea typeface="+mn-lt"/>
                <a:cs typeface="+mn-lt"/>
              </a:endParaRPr>
            </a:p>
          </p:txBody>
        </p:sp>
        <p:sp>
          <p:nvSpPr>
            <p:cNvPr id="10" name="Text 8"/>
            <p:cNvSpPr/>
            <p:nvPr/>
          </p:nvSpPr>
          <p:spPr>
            <a:xfrm>
              <a:off x="6583680" y="2834640"/>
              <a:ext cx="914400" cy="914400"/>
            </a:xfrm>
            <a:prstGeom prst="rect">
              <a:avLst/>
            </a:prstGeom>
            <a:noFill/>
            <a:ln/>
          </p:spPr>
          <p:txBody>
            <a:bodyPr wrap="square" lIns="0" tIns="0" rIns="0" bIns="0" rtlCol="0" anchor="ctr"/>
            <a:lstStyle/>
            <a:p>
              <a:pPr marL="0" indent="0" algn="ctr">
                <a:buNone/>
              </a:pPr>
              <a:r>
                <a:rPr lang="en-US" sz="4000" dirty="0">
                  <a:solidFill>
                    <a:srgbClr val="000000"/>
                  </a:solidFill>
                </a:rPr>
                <a:t>✅</a:t>
              </a:r>
              <a:endParaRPr lang="en-US" sz="4000" dirty="0"/>
            </a:p>
          </p:txBody>
        </p:sp>
        <p:sp>
          <p:nvSpPr>
            <p:cNvPr id="11" name="Text 9"/>
            <p:cNvSpPr/>
            <p:nvPr/>
          </p:nvSpPr>
          <p:spPr>
            <a:xfrm>
              <a:off x="6583680" y="3840480"/>
              <a:ext cx="4480560" cy="1463040"/>
            </a:xfrm>
            <a:prstGeom prst="rect">
              <a:avLst/>
            </a:prstGeom>
            <a:noFill/>
            <a:ln/>
          </p:spPr>
          <p:txBody>
            <a:bodyPr wrap="square" lIns="0" tIns="0" rIns="0" bIns="0" rtlCol="0" anchor="ctr"/>
            <a:lstStyle/>
            <a:p>
              <a:pPr marL="0" indent="0">
                <a:lnSpc>
                  <a:spcPct val="135000"/>
                </a:lnSpc>
                <a:buNone/>
              </a:pPr>
              <a:r>
                <a:rPr lang="en-US" b="1" dirty="0">
                  <a:solidFill>
                    <a:srgbClr val="FFFFFF"/>
                  </a:solidFill>
                  <a:latin typeface="Calibri"/>
                  <a:ea typeface="Calibri"/>
                  <a:cs typeface="Calibri"/>
                </a:rPr>
                <a:t>The same booking is flagged as high-risk weeks</a:t>
              </a:r>
              <a:endParaRPr lang="en-US" b="1">
                <a:latin typeface="Calibri"/>
                <a:ea typeface="Calibri"/>
                <a:cs typeface="Calibri"/>
              </a:endParaRPr>
            </a:p>
            <a:p>
              <a:pPr marL="0" indent="0">
                <a:lnSpc>
                  <a:spcPct val="135000"/>
                </a:lnSpc>
                <a:buNone/>
              </a:pPr>
              <a:r>
                <a:rPr lang="en-US" b="1" dirty="0">
                  <a:solidFill>
                    <a:srgbClr val="FFFFFF"/>
                  </a:solidFill>
                  <a:latin typeface="Calibri"/>
                  <a:ea typeface="Calibri"/>
                  <a:cs typeface="Calibri"/>
                </a:rPr>
                <a:t>earlier. A simple reminder or deposit request</a:t>
              </a:r>
              <a:endParaRPr lang="en-US" b="1">
                <a:latin typeface="Calibri"/>
                <a:ea typeface="Calibri"/>
                <a:cs typeface="Calibri"/>
              </a:endParaRPr>
            </a:p>
            <a:p>
              <a:pPr marL="0" indent="0">
                <a:lnSpc>
                  <a:spcPct val="135000"/>
                </a:lnSpc>
                <a:buNone/>
              </a:pPr>
              <a:r>
                <a:rPr lang="en-US" b="1" dirty="0">
                  <a:solidFill>
                    <a:srgbClr val="FFFFFF"/>
                  </a:solidFill>
                  <a:latin typeface="Calibri"/>
                  <a:ea typeface="Calibri"/>
                  <a:cs typeface="Calibri"/>
                </a:rPr>
                <a:t>is sent — the stay is protected before it's lost.</a:t>
              </a:r>
              <a:endParaRPr lang="en-US" b="1">
                <a:latin typeface="Calibri"/>
                <a:ea typeface="Calibri"/>
                <a:cs typeface="Calibri"/>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72A"/>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ADFD1AAA-DFEE-10DA-C6E8-6E5417B8586A}"/>
              </a:ext>
            </a:extLst>
          </p:cNvPr>
          <p:cNvGrpSpPr/>
          <p:nvPr/>
        </p:nvGrpSpPr>
        <p:grpSpPr>
          <a:xfrm>
            <a:off x="0" y="1451"/>
            <a:ext cx="12192453" cy="6762206"/>
            <a:chOff x="0" y="1451"/>
            <a:chExt cx="12192453" cy="6762206"/>
          </a:xfrm>
        </p:grpSpPr>
        <p:sp>
          <p:nvSpPr>
            <p:cNvPr id="2" name="Shape 0"/>
            <p:cNvSpPr/>
            <p:nvPr/>
          </p:nvSpPr>
          <p:spPr>
            <a:xfrm>
              <a:off x="0" y="1451"/>
              <a:ext cx="4572000" cy="4572000"/>
            </a:xfrm>
            <a:prstGeom prst="ellipse">
              <a:avLst/>
            </a:prstGeom>
            <a:solidFill>
              <a:srgbClr val="1E2761"/>
            </a:solidFill>
            <a:ln/>
          </p:spPr>
        </p:sp>
        <p:sp>
          <p:nvSpPr>
            <p:cNvPr id="3" name="Shape 1"/>
            <p:cNvSpPr/>
            <p:nvPr/>
          </p:nvSpPr>
          <p:spPr>
            <a:xfrm>
              <a:off x="7995920" y="2648857"/>
              <a:ext cx="4114800" cy="4114800"/>
            </a:xfrm>
            <a:prstGeom prst="ellipse">
              <a:avLst/>
            </a:prstGeom>
            <a:solidFill>
              <a:srgbClr val="1E2761"/>
            </a:solidFill>
            <a:ln/>
          </p:spPr>
        </p:sp>
        <p:sp>
          <p:nvSpPr>
            <p:cNvPr id="4" name="Text 2"/>
            <p:cNvSpPr/>
            <p:nvPr/>
          </p:nvSpPr>
          <p:spPr>
            <a:xfrm>
              <a:off x="256903" y="1828800"/>
              <a:ext cx="11081657" cy="1609635"/>
            </a:xfrm>
            <a:prstGeom prst="rect">
              <a:avLst/>
            </a:prstGeom>
            <a:noFill/>
            <a:ln/>
          </p:spPr>
          <p:txBody>
            <a:bodyPr wrap="square" lIns="0" tIns="0" rIns="0" bIns="0" rtlCol="0" anchor="ctr"/>
            <a:lstStyle/>
            <a:p>
              <a:pPr marL="0" indent="0">
                <a:lnSpc>
                  <a:spcPct val="115000"/>
                </a:lnSpc>
                <a:buNone/>
              </a:pPr>
              <a:r>
                <a:rPr lang="en-US" sz="3800" b="1" dirty="0">
                  <a:solidFill>
                    <a:srgbClr val="FFFFFF"/>
                  </a:solidFill>
                  <a:latin typeface="Cambria" pitchFamily="34" charset="0"/>
                  <a:ea typeface="Cambria" pitchFamily="34" charset="-122"/>
                  <a:cs typeface="Cambria" pitchFamily="34" charset="-120"/>
                </a:rPr>
                <a:t>Every cancellation predicted</a:t>
              </a:r>
              <a:endParaRPr lang="en-US" sz="3800" dirty="0"/>
            </a:p>
            <a:p>
              <a:pPr marL="0" indent="0">
                <a:lnSpc>
                  <a:spcPct val="115000"/>
                </a:lnSpc>
                <a:buNone/>
              </a:pPr>
              <a:r>
                <a:rPr lang="en-US" sz="3800" b="1" dirty="0">
                  <a:solidFill>
                    <a:srgbClr val="FFFFFF"/>
                  </a:solidFill>
                  <a:latin typeface="Cambria" pitchFamily="34" charset="0"/>
                  <a:ea typeface="Cambria" pitchFamily="34" charset="-122"/>
                  <a:cs typeface="Cambria" pitchFamily="34" charset="-120"/>
                </a:rPr>
                <a:t>is revenue protected.</a:t>
              </a:r>
              <a:endParaRPr lang="en-US" sz="3800" dirty="0"/>
            </a:p>
          </p:txBody>
        </p:sp>
        <p:sp>
          <p:nvSpPr>
            <p:cNvPr id="5" name="Shape 3"/>
            <p:cNvSpPr/>
            <p:nvPr/>
          </p:nvSpPr>
          <p:spPr>
            <a:xfrm>
              <a:off x="822960" y="3611880"/>
              <a:ext cx="2743200" cy="0"/>
            </a:xfrm>
            <a:prstGeom prst="line">
              <a:avLst/>
            </a:prstGeom>
            <a:noFill/>
            <a:ln w="25400">
              <a:solidFill>
                <a:srgbClr val="1C7293"/>
              </a:solidFill>
              <a:prstDash val="solid"/>
            </a:ln>
          </p:spPr>
        </p:sp>
        <p:sp>
          <p:nvSpPr>
            <p:cNvPr id="6" name="Text 4"/>
            <p:cNvSpPr/>
            <p:nvPr/>
          </p:nvSpPr>
          <p:spPr>
            <a:xfrm>
              <a:off x="750389" y="3606075"/>
              <a:ext cx="5486400" cy="1658982"/>
            </a:xfrm>
            <a:prstGeom prst="rect">
              <a:avLst/>
            </a:prstGeom>
            <a:noFill/>
            <a:ln/>
          </p:spPr>
          <p:txBody>
            <a:bodyPr wrap="square" lIns="0" tIns="0" rIns="0" bIns="0" rtlCol="0" anchor="ctr"/>
            <a:lstStyle/>
            <a:p>
              <a:r>
                <a:rPr lang="en-US" sz="2400" b="1" i="1">
                  <a:solidFill>
                    <a:schemeClr val="bg1"/>
                  </a:solidFill>
                  <a:ea typeface="+mn-lt"/>
                  <a:cs typeface="+mn-lt"/>
                </a:rPr>
                <a:t>Predict the future. Prevent the loss.</a:t>
              </a:r>
              <a:r>
                <a:rPr lang="en-US" sz="2400" b="1" dirty="0">
                  <a:solidFill>
                    <a:schemeClr val="accent2">
                      <a:lumMod val="76000"/>
                    </a:schemeClr>
                  </a:solidFill>
                  <a:ea typeface="+mn-lt"/>
                  <a:cs typeface="+mn-lt"/>
                </a:rPr>
                <a:t> </a:t>
              </a:r>
              <a:r>
                <a:rPr lang="en-US" sz="2400" b="1" i="1">
                  <a:solidFill>
                    <a:schemeClr val="accent2">
                      <a:lumMod val="76000"/>
                    </a:schemeClr>
                  </a:solidFill>
                  <a:ea typeface="+mn-lt"/>
                  <a:cs typeface="+mn-lt"/>
                </a:rPr>
                <a:t>StayCertain </a:t>
              </a:r>
              <a:endParaRPr lang="en-US" b="1" i="1">
                <a:solidFill>
                  <a:schemeClr val="accent2">
                    <a:lumMod val="76000"/>
                  </a:schemeClr>
                </a:solidFill>
              </a:endParaRPr>
            </a:p>
          </p:txBody>
        </p:sp>
        <p:sp>
          <p:nvSpPr>
            <p:cNvPr id="7" name="Text 5"/>
            <p:cNvSpPr/>
            <p:nvPr/>
          </p:nvSpPr>
          <p:spPr>
            <a:xfrm>
              <a:off x="677817" y="5265057"/>
              <a:ext cx="7315200" cy="457200"/>
            </a:xfrm>
            <a:prstGeom prst="rect">
              <a:avLst/>
            </a:prstGeom>
            <a:noFill/>
            <a:ln/>
          </p:spPr>
          <p:txBody>
            <a:bodyPr wrap="square" lIns="0" tIns="0" rIns="0" bIns="0" rtlCol="0" anchor="ctr"/>
            <a:lstStyle/>
            <a:p>
              <a:pPr marL="0" indent="0">
                <a:buNone/>
              </a:pPr>
              <a:r>
                <a:rPr lang="en-US" b="1" i="1" dirty="0">
                  <a:solidFill>
                    <a:srgbClr val="CADCFC"/>
                  </a:solidFill>
                  <a:latin typeface="Calibri"/>
                  <a:ea typeface="Calibri"/>
                  <a:cs typeface="Calibri"/>
                </a:rPr>
                <a:t>Thank you — questions welcome.</a:t>
              </a:r>
              <a:endParaRPr lang="en-US" b="1">
                <a:latin typeface="Calibri"/>
                <a:ea typeface="Calibri"/>
                <a:cs typeface="Calibri"/>
              </a:endParaRPr>
            </a:p>
          </p:txBody>
        </p:sp>
        <p:pic>
          <p:nvPicPr>
            <p:cNvPr id="9" name="Picture 8" descr="A logo on a dark background&#10;&#10;AI-generated content may be incorrect.">
              <a:extLst>
                <a:ext uri="{FF2B5EF4-FFF2-40B4-BE49-F238E27FC236}">
                  <a16:creationId xmlns:a16="http://schemas.microsoft.com/office/drawing/2014/main" id="{CA30ECAE-FED3-978D-A39C-C3CE8575498F}"/>
                </a:ext>
              </a:extLst>
            </p:cNvPr>
            <p:cNvPicPr>
              <a:picLocks noChangeAspect="1"/>
            </p:cNvPicPr>
            <p:nvPr/>
          </p:nvPicPr>
          <p:blipFill>
            <a:blip r:embed="rId3"/>
            <a:stretch>
              <a:fillRect/>
            </a:stretch>
          </p:blipFill>
          <p:spPr>
            <a:xfrm>
              <a:off x="9586233" y="50800"/>
              <a:ext cx="2606220" cy="1778000"/>
            </a:xfrm>
            <a:prstGeom prst="rect">
              <a:avLst/>
            </a:prstGeom>
          </p:spPr>
        </p:pic>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Widescreen</PresentationFormat>
  <Paragraphs>0</Paragraphs>
  <Slides>11</Slides>
  <Notes>11</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260</cp:revision>
  <dcterms:created xsi:type="dcterms:W3CDTF">2026-07-25T00:16:18Z</dcterms:created>
  <dcterms:modified xsi:type="dcterms:W3CDTF">2026-07-28T08:56:32Z</dcterms:modified>
</cp:coreProperties>
</file>